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Churn data: Silhouette Score</a:t>
            </a:r>
          </a:p>
        </c:rich>
      </c:tx>
      <c:layout/>
      <c:overlay val="0"/>
    </c:title>
    <c:autoTitleDeleted val="0"/>
    <c:plotArea>
      <c:layout/>
      <c:barChart>
        <c:barDir val="col"/>
        <c:grouping val="clustered"/>
        <c:varyColors val="0"/>
        <c:ser>
          <c:idx val="0"/>
          <c:order val="0"/>
          <c:tx>
            <c:strRef>
              <c:f>Sheet1!$B$1</c:f>
              <c:strCache>
                <c:ptCount val="1"/>
                <c:pt idx="0">
                  <c:v>Silhouette</c:v>
                </c:pt>
              </c:strCache>
            </c:strRef>
          </c:tx>
          <c:spPr>
            <a:solidFill>
              <a:srgbClr val="E36414"/>
            </a:solidFill>
            <a:effectLst/>
          </c:spPr>
          <c:invertIfNegative val="0"/>
          <c:dLbls>
            <c:numFmt formatCode="0.0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dPt>
            <c:idx val="0"/>
            <c:invertIfNegative val="0"/>
            <c:bubble3D val="0"/>
            <c:spPr>
              <a:solidFill>
                <a:srgbClr val="E36414"/>
              </a:solidFill>
              <a:effectLst/>
            </c:spPr>
          </c:dPt>
          <c:dPt>
            <c:idx val="1"/>
            <c:invertIfNegative val="0"/>
            <c:bubble3D val="0"/>
            <c:spPr>
              <a:solidFill>
                <a:srgbClr val="9DB8BC"/>
              </a:solidFill>
              <a:effectLst/>
            </c:spPr>
          </c:dPt>
          <c:dPt>
            <c:idx val="2"/>
            <c:invertIfNegative val="0"/>
            <c:bubble3D val="0"/>
            <c:spPr>
              <a:solidFill>
                <a:srgbClr val="9DB8BC"/>
              </a:solidFill>
              <a:effectLst/>
            </c:spPr>
          </c:dPt>
          <c:cat>
            <c:multiLvlStrRef>
              <c:f>Sheet1!$A$2:$A$4</c:f>
              <c:multiLvlStrCache>
                <c:ptCount val="3"/>
                <c:lvl>
                  <c:pt idx="0">
                    <c:v>K-Means</c:v>
                  </c:pt>
                  <c:pt idx="1">
                    <c:v>Hierarchical</c:v>
                  </c:pt>
                  <c:pt idx="2">
                    <c:v>DBSCAN</c:v>
                  </c:pt>
                </c:lvl>
              </c:multiLvlStrCache>
            </c:multiLvlStrRef>
          </c:cat>
          <c:val>
            <c:numRef>
              <c:f>Sheet1!$B$2:$B$4</c:f>
              <c:numCache>
                <c:formatCode>General</c:formatCode>
                <c:ptCount val="3"/>
                <c:pt idx="0">
                  <c:v>0.4</c:v>
                </c:pt>
                <c:pt idx="1">
                  <c:v>0.393</c:v>
                </c:pt>
                <c:pt idx="2">
                  <c:v>0.164</c:v>
                </c:pt>
              </c:numCache>
            </c:numRef>
          </c:val>
        </c:ser>
        <c:dLbls>
          <c:numFmt formatCode="0.0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Marketing data: Silhouette Score</a:t>
            </a:r>
          </a:p>
        </c:rich>
      </c:tx>
      <c:layout/>
      <c:overlay val="0"/>
    </c:title>
    <c:autoTitleDeleted val="0"/>
    <c:plotArea>
      <c:layout/>
      <c:barChart>
        <c:barDir val="col"/>
        <c:grouping val="clustered"/>
        <c:varyColors val="0"/>
        <c:ser>
          <c:idx val="0"/>
          <c:order val="0"/>
          <c:tx>
            <c:strRef>
              <c:f>Sheet1!$B$1</c:f>
              <c:strCache>
                <c:ptCount val="1"/>
                <c:pt idx="0">
                  <c:v>Silhouette</c:v>
                </c:pt>
              </c:strCache>
            </c:strRef>
          </c:tx>
          <c:spPr>
            <a:solidFill>
              <a:srgbClr val="9DB8BC"/>
            </a:solidFill>
            <a:effectLst/>
          </c:spPr>
          <c:invertIfNegative val="0"/>
          <c:dLbls>
            <c:numFmt formatCode="0.00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dPt>
            <c:idx val="0"/>
            <c:invertIfNegative val="0"/>
            <c:bubble3D val="0"/>
            <c:spPr>
              <a:solidFill>
                <a:srgbClr val="9DB8BC"/>
              </a:solidFill>
              <a:effectLst/>
            </c:spPr>
          </c:dPt>
          <c:dPt>
            <c:idx val="1"/>
            <c:invertIfNegative val="0"/>
            <c:bubble3D val="0"/>
            <c:spPr>
              <a:solidFill>
                <a:srgbClr val="E36414"/>
              </a:solidFill>
              <a:effectLst/>
            </c:spPr>
          </c:dPt>
          <c:dPt>
            <c:idx val="2"/>
            <c:invertIfNegative val="0"/>
            <c:bubble3D val="0"/>
            <c:spPr>
              <a:solidFill>
                <a:srgbClr val="9DB8BC"/>
              </a:solidFill>
              <a:effectLst/>
            </c:spPr>
          </c:dPt>
          <c:cat>
            <c:multiLvlStrRef>
              <c:f>Sheet1!$A$2:$A$4</c:f>
              <c:multiLvlStrCache>
                <c:ptCount val="3"/>
                <c:lvl>
                  <c:pt idx="0">
                    <c:v>K-Means</c:v>
                  </c:pt>
                  <c:pt idx="1">
                    <c:v>Hierarchical</c:v>
                  </c:pt>
                  <c:pt idx="2">
                    <c:v>DBSCAN</c:v>
                  </c:pt>
                </c:lvl>
              </c:multiLvlStrCache>
            </c:multiLvlStrRef>
          </c:cat>
          <c:val>
            <c:numRef>
              <c:f>Sheet1!$B$2:$B$4</c:f>
              <c:numCache>
                <c:formatCode>General</c:formatCode>
                <c:ptCount val="3"/>
                <c:pt idx="0">
                  <c:v>0.0352</c:v>
                </c:pt>
                <c:pt idx="1">
                  <c:v>0.0436</c:v>
                </c:pt>
                <c:pt idx="2">
                  <c:v>0.0244</c:v>
                </c:pt>
              </c:numCache>
            </c:numRef>
          </c:val>
        </c:ser>
        <c:dLbls>
          <c:numFmt formatCode="0.00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max val="0.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Churn rate (%)</a:t>
            </a:r>
          </a:p>
        </c:rich>
      </c:tx>
      <c:layout/>
      <c:overlay val="0"/>
    </c:title>
    <c:autoTitleDeleted val="0"/>
    <c:plotArea>
      <c:layout/>
      <c:barChart>
        <c:barDir val="col"/>
        <c:grouping val="clustered"/>
        <c:varyColors val="0"/>
        <c:ser>
          <c:idx val="0"/>
          <c:order val="0"/>
          <c:tx>
            <c:strRef>
              <c:f>Sheet1!$B$1</c:f>
              <c:strCache>
                <c:ptCount val="1"/>
                <c:pt idx="0">
                  <c:v>Churn %</c:v>
                </c:pt>
              </c:strCache>
            </c:strRef>
          </c:tx>
          <c:spPr>
            <a:solidFill>
              <a:srgbClr val="9DB8BC"/>
            </a:solidFill>
            <a:effectLst/>
          </c:spPr>
          <c:invertIfNegative val="0"/>
          <c:dLbls>
            <c:numFmt formatCode="0&quot;%&quot;"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dPt>
            <c:idx val="0"/>
            <c:invertIfNegative val="0"/>
            <c:bubble3D val="0"/>
            <c:spPr>
              <a:solidFill>
                <a:srgbClr val="9DB8BC"/>
              </a:solidFill>
              <a:effectLst/>
            </c:spPr>
          </c:dPt>
          <c:dPt>
            <c:idx val="1"/>
            <c:invertIfNegative val="0"/>
            <c:bubble3D val="0"/>
            <c:spPr>
              <a:solidFill>
                <a:srgbClr val="E36414"/>
              </a:solidFill>
              <a:effectLst/>
            </c:spPr>
          </c:dPt>
          <c:cat>
            <c:multiLvlStrRef>
              <c:f>Sheet1!$A$2:$A$3</c:f>
              <c:multiLvlStrCache>
                <c:ptCount val="2"/>
                <c:lvl>
                  <c:pt idx="0">
                    <c:v>More Satisfied</c:v>
                  </c:pt>
                  <c:pt idx="1">
                    <c:v>Higher-Risk</c:v>
                  </c:pt>
                </c:lvl>
              </c:multiLvlStrCache>
            </c:multiLvlStrRef>
          </c:cat>
          <c:val>
            <c:numRef>
              <c:f>Sheet1!$B$2:$B$3</c:f>
              <c:numCache>
                <c:formatCode>General</c:formatCode>
                <c:ptCount val="2"/>
                <c:pt idx="0">
                  <c:v>48</c:v>
                </c:pt>
                <c:pt idx="1">
                  <c:v>57</c:v>
                </c:pt>
              </c:numCache>
            </c:numRef>
          </c:val>
        </c:ser>
        <c:dLbls>
          <c:numFmt formatCode="0&quot;%&quot;"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mn-lt"/>
              </a:defRPr>
            </a:pPr>
            <a:r>
              <a:rPr sz="1400" b="0" i="0" u="none" strike="noStrike">
                <a:solidFill>
                  <a:srgbClr val="0F4C5C"/>
                </a:solidFill>
                <a:latin typeface="+mn-lt"/>
              </a:rPr>
              <a:t>Average customer age</a:t>
            </a:r>
          </a:p>
        </c:rich>
      </c:tx>
      <c:layout/>
      <c:overlay val="0"/>
    </c:title>
    <c:autoTitleDeleted val="0"/>
    <c:plotArea>
      <c:layout/>
      <c:barChart>
        <c:barDir val="col"/>
        <c:grouping val="clustered"/>
        <c:varyColors val="0"/>
        <c:ser>
          <c:idx val="0"/>
          <c:order val="0"/>
          <c:tx>
            <c:strRef>
              <c:f>Sheet1!$B$1</c:f>
              <c:strCache>
                <c:ptCount val="1"/>
                <c:pt idx="0">
                  <c:v>Age</c:v>
                </c:pt>
              </c:strCache>
            </c:strRef>
          </c:tx>
          <c:spPr>
            <a:solidFill>
              <a:srgbClr val="9DB8BC"/>
            </a:solidFill>
            <a:effectLst/>
          </c:spPr>
          <c:invertIfNegative val="0"/>
          <c:dLbls>
            <c:numFmt formatCode="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dPt>
            <c:idx val="0"/>
            <c:invertIfNegative val="0"/>
            <c:bubble3D val="0"/>
            <c:spPr>
              <a:solidFill>
                <a:srgbClr val="9DB8BC"/>
              </a:solidFill>
              <a:effectLst/>
            </c:spPr>
          </c:dPt>
          <c:dPt>
            <c:idx val="1"/>
            <c:invertIfNegative val="0"/>
            <c:bubble3D val="0"/>
            <c:spPr>
              <a:solidFill>
                <a:srgbClr val="E36414"/>
              </a:solidFill>
              <a:effectLst/>
            </c:spPr>
          </c:dPt>
          <c:dPt>
            <c:idx val="2"/>
            <c:invertIfNegative val="0"/>
            <c:bubble3D val="0"/>
            <c:spPr>
              <a:solidFill>
                <a:srgbClr val="9DB8BC"/>
              </a:solidFill>
              <a:effectLst/>
            </c:spPr>
          </c:dPt>
          <c:cat>
            <c:multiLvlStrRef>
              <c:f>Sheet1!$A$2:$A$4</c:f>
              <c:multiLvlStrCache>
                <c:ptCount val="3"/>
                <c:lvl>
                  <c:pt idx="0">
                    <c:v>Cluster 0</c:v>
                  </c:pt>
                  <c:pt idx="1">
                    <c:v>Cluster 1</c:v>
                  </c:pt>
                  <c:pt idx="2">
                    <c:v>Cluster 2</c:v>
                  </c:pt>
                </c:lvl>
              </c:multiLvlStrCache>
            </c:multiLvlStrRef>
          </c:cat>
          <c:val>
            <c:numRef>
              <c:f>Sheet1!$B$2:$B$4</c:f>
              <c:numCache>
                <c:formatCode>General</c:formatCode>
                <c:ptCount val="3"/>
                <c:pt idx="0">
                  <c:v>54.96</c:v>
                </c:pt>
                <c:pt idx="1">
                  <c:v>72.74</c:v>
                </c:pt>
                <c:pt idx="2">
                  <c:v>41.78</c:v>
                </c:pt>
              </c:numCache>
            </c:numRef>
          </c:val>
        </c:ser>
        <c:dLbls>
          <c:numFmt formatCode="0.0" sourceLinked="0"/>
          <c:txPr>
            <a:bodyPr/>
            <a:lstStyle/>
            <a:p>
              <a:pPr>
                <a:defRPr b="0" i="0" strike="noStrike" sz="1200" u="none">
                  <a:solidFill>
                    <a:srgbClr val="1B2B3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one theme: finding natural customer groups without labels. Project 1 uses a churn dataset (180 customers). Project 2 uses a marketing dataset (10,000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are different, but a single offer treats them the same. We use clustering (no labels needed) to find groups, then check what makes each group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data is small and messy. Marketing data is large and clean. Churn label was NOT used for clustering; it was only used afterwards to check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algorithms are distance-based. Unscaled columns or impossible values (like a charge of 999) would dominate the distances, so cleaning and scaling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views set up the problem. Spending is concentrated in wine and meat, channels are evenly used, and no churn feature is strongly correlated with another, so patterns are not visible by eye. We need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data: PCA reduced the 22 features to 2 components before clustering. Marketing data: all 53 scaled features were clustered directly; PCA was used only to draw the plots. Silhouette Score ranges from -1 to 1; higher means groups are better separated.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assigns customers to the nearest of K centres. For churn data we used K=2 from the elbow plot. For marketing data we tried K=2 to 10 and picked K=3 using the highest silhouette score. Note K=6 scored similarly (0.0352).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(Ward): merges the closest groups step by step; the dendrogram shows the order. DBSCAN: finds dense regions and marks isolated customers as noise (-1). eps was chosen from the k-distance plot on marketing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K-Means has the highest score (0.400) with balanced groups; DBSCAN leaves 20 customers as noise. Marketing: Hierarchical scores highest (0.0436) but puts 83% of customers in one cluster. All marketing scores are below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 = K-Means silhouette on churn data (moderate separation). 57% vs 48% = churn rate in Higher-Risk vs More Satisfied segments. 0.0436 = best marketing silhouette, i.e. weak structure. 7.6% = variance kept by the 2 PCA components (3.83% + 3.77%).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(K-Means, K=2): the Higher-Risk group pays more and is less satisfied. Marketing (K-Means, K=3): clusters differ by age, and Cluster 0 is entirely tablet users. Average spending is almost identical. Segment names for churn come from the notebook; marketing clusters are described, not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backed by a number in the notebooks. Point 4 is the honest limitation: the marketing clusters are weak, so we treat them as a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follows from a result on the previous slides. The fourth is a next step, not something we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methods, two datasets. On the small churn data clustering gave a usable split. On the big marketing data it found only weak structure, and that is a finding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rgbClr val="0F4C5C"/>
                </a:solidFill>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B6B73"/>
                </a:solidFill>
              </a:rPr>
              <a:t>Customer Segmentation Using Unsupervised Learning  |  Calibo AI Academy</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766560" cy="228600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315200" cy="1097280"/>
          </a:xfrm>
          <a:prstGeom prst="rect">
            <a:avLst/>
          </a:prstGeom>
          <a:noFill/>
          <a:ln/>
        </p:spPr>
        <p:txBody>
          <a:bodyPr wrap="square" rtlCol="0"/>
          <a:lstStyle>
            <a:lvl1pPr algn="l" indent="0" marL="0">
              <a:buNone/>
              <a:defRPr lang="en-US" sz="5400" b="1" dirty="0">
                <a:solidFill>
                  <a:srgbClr val="FFFFFF"/>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766560" cy="2286000"/>
          </a:xfrm>
          <a:prstGeom prst="rect">
            <a:avLst/>
          </a:prstGeom>
          <a:noFill/>
          <a:ln/>
        </p:spPr>
        <p:txBody>
          <a:bodyPr wrap="square" lIns="0" tIns="0" rIns="0" bIns="0" rtlCol="0" anchor="t"/>
          <a:lstStyle/>
          <a:p>
            <a:pPr algn="l" indent="0" marL="0">
              <a:buNone/>
            </a:pPr>
            <a:r>
              <a:rPr lang="en-US" sz="4400" b="1" dirty="0">
                <a:solidFill>
                  <a:srgbClr val="FFFFFF"/>
                </a:solidFill>
              </a:rPr>
              <a:t>Customer Segmentation Using Unsupervised Learning</a:t>
            </a:r>
            <a:endParaRPr lang="en-US" sz="4400" dirty="0"/>
          </a:p>
        </p:txBody>
      </p:sp>
      <p:sp>
        <p:nvSpPr>
          <p:cNvPr id="3" name="Text 1"/>
          <p:cNvSpPr txBox="1"/>
          <p:nvPr/>
        </p:nvSpPr>
        <p:spPr>
          <a:xfrm>
            <a:off x="731520" y="685800"/>
            <a:ext cx="6400800" cy="274320"/>
          </a:xfrm>
          <a:prstGeom prst="rect">
            <a:avLst/>
          </a:prstGeom>
          <a:noFill/>
          <a:ln/>
        </p:spPr>
        <p:txBody>
          <a:bodyPr wrap="square" lIns="0" tIns="0" rIns="0" bIns="0" rtlCol="0" anchor="t"/>
          <a:lstStyle/>
          <a:p>
            <a:pPr indent="0" marL="0">
              <a:buNone/>
            </a:pPr>
            <a:r>
              <a:rPr lang="en-US" sz="1200" b="1" spc="300" kern="0" dirty="0">
                <a:solidFill>
                  <a:srgbClr val="9DB8BC"/>
                </a:solidFill>
              </a:rPr>
              <a:t>UNSUPERVISED MACHINE LEARNING PROJECT</a:t>
            </a:r>
            <a:endParaRPr lang="en-US" sz="1200" dirty="0"/>
          </a:p>
        </p:txBody>
      </p:sp>
      <p:sp>
        <p:nvSpPr>
          <p:cNvPr id="4" name="Text 2"/>
          <p:cNvSpPr txBox="1"/>
          <p:nvPr/>
        </p:nvSpPr>
        <p:spPr>
          <a:xfrm>
            <a:off x="731520" y="3246120"/>
            <a:ext cx="6309360" cy="731520"/>
          </a:xfrm>
          <a:prstGeom prst="rect">
            <a:avLst/>
          </a:prstGeom>
          <a:noFill/>
          <a:ln/>
        </p:spPr>
        <p:txBody>
          <a:bodyPr wrap="square" lIns="0" tIns="0" rIns="0" bIns="0" rtlCol="0" anchor="t"/>
          <a:lstStyle/>
          <a:p>
            <a:pPr indent="0" marL="0">
              <a:buNone/>
            </a:pPr>
            <a:r>
              <a:rPr lang="en-US" sz="1800" dirty="0">
                <a:solidFill>
                  <a:srgbClr val="CFE3E0"/>
                </a:solidFill>
              </a:rPr>
              <a:t>K-Means, Hierarchical and DBSCAN applied to a churn dataset and a 10,000-customer marketing dataset</a:t>
            </a:r>
            <a:endParaRPr lang="en-US" sz="1800" dirty="0"/>
          </a:p>
        </p:txBody>
      </p:sp>
      <p:sp>
        <p:nvSpPr>
          <p:cNvPr id="5" name="Text 3"/>
          <p:cNvSpPr txBox="1"/>
          <p:nvPr/>
        </p:nvSpPr>
        <p:spPr>
          <a:xfrm>
            <a:off x="731520" y="4572000"/>
            <a:ext cx="4572000" cy="274320"/>
          </a:xfrm>
          <a:prstGeom prst="rect">
            <a:avLst/>
          </a:prstGeom>
          <a:noFill/>
          <a:ln/>
        </p:spPr>
        <p:txBody>
          <a:bodyPr wrap="square" lIns="0" tIns="0" rIns="0" bIns="0" rtlCol="0" anchor="t"/>
          <a:lstStyle/>
          <a:p>
            <a:pPr indent="0" marL="0">
              <a:buNone/>
            </a:pPr>
            <a:r>
              <a:rPr lang="en-US" sz="1400" dirty="0">
                <a:solidFill>
                  <a:srgbClr val="9DB8BC"/>
                </a:solidFill>
              </a:rPr>
              <a:t>Presented by</a:t>
            </a:r>
            <a:endParaRPr lang="en-US" sz="1400" dirty="0"/>
          </a:p>
        </p:txBody>
      </p:sp>
      <p:sp>
        <p:nvSpPr>
          <p:cNvPr id="6" name="Text 4"/>
          <p:cNvSpPr txBox="1"/>
          <p:nvPr/>
        </p:nvSpPr>
        <p:spPr>
          <a:xfrm>
            <a:off x="731520" y="4892040"/>
            <a:ext cx="6858000" cy="457200"/>
          </a:xfrm>
          <a:prstGeom prst="rect">
            <a:avLst/>
          </a:prstGeom>
          <a:noFill/>
          <a:ln/>
        </p:spPr>
        <p:txBody>
          <a:bodyPr wrap="square" lIns="0" tIns="0" rIns="0" bIns="0" rtlCol="0" anchor="t"/>
          <a:lstStyle/>
          <a:p>
            <a:pPr indent="0" marL="0">
              <a:buNone/>
            </a:pPr>
            <a:r>
              <a:rPr lang="en-US" sz="2200" b="1" dirty="0">
                <a:solidFill>
                  <a:srgbClr val="FFFFFF"/>
                </a:solidFill>
              </a:rPr>
              <a:t>Team Madhu  |  Yatheesh  |  Koteswarao</a:t>
            </a:r>
            <a:endParaRPr lang="en-US" sz="2200" dirty="0"/>
          </a:p>
        </p:txBody>
      </p:sp>
      <p:sp>
        <p:nvSpPr>
          <p:cNvPr id="7" name="Text 5"/>
          <p:cNvSpPr txBox="1"/>
          <p:nvPr/>
        </p:nvSpPr>
        <p:spPr>
          <a:xfrm>
            <a:off x="731520" y="6126480"/>
            <a:ext cx="5486400" cy="320040"/>
          </a:xfrm>
          <a:prstGeom prst="rect">
            <a:avLst/>
          </a:prstGeom>
          <a:noFill/>
          <a:ln/>
        </p:spPr>
        <p:txBody>
          <a:bodyPr wrap="square" lIns="0" tIns="0" rIns="0" bIns="0" rtlCol="0" anchor="t"/>
          <a:lstStyle/>
          <a:p>
            <a:pPr indent="0" marL="0">
              <a:buNone/>
            </a:pPr>
            <a:r>
              <a:rPr lang="en-US" sz="1400" b="1" spc="400" kern="0" dirty="0">
                <a:solidFill>
                  <a:srgbClr val="FFFFFF"/>
                </a:solidFill>
              </a:rPr>
              <a:t>CALIBO AI ACADEMY</a:t>
            </a:r>
            <a:endParaRPr lang="en-US" sz="1400" dirty="0"/>
          </a:p>
        </p:txBody>
      </p:sp>
      <p:sp>
        <p:nvSpPr>
          <p:cNvPr id="8" name="dot"/>
          <p:cNvSpPr/>
          <p:nvPr/>
        </p:nvSpPr>
        <p:spPr>
          <a:xfrm>
            <a:off x="9718502" y="1943879"/>
            <a:ext cx="136176" cy="136176"/>
          </a:xfrm>
          <a:prstGeom prst="ellipse">
            <a:avLst/>
          </a:prstGeom>
          <a:solidFill>
            <a:srgbClr val="E36414">
              <a:alpha val="64000"/>
            </a:srgbClr>
          </a:solidFill>
          <a:ln/>
        </p:spPr>
      </p:sp>
      <p:sp>
        <p:nvSpPr>
          <p:cNvPr id="9" name="dot"/>
          <p:cNvSpPr/>
          <p:nvPr/>
        </p:nvSpPr>
        <p:spPr>
          <a:xfrm>
            <a:off x="8709520" y="1313064"/>
            <a:ext cx="139840" cy="139840"/>
          </a:xfrm>
          <a:prstGeom prst="ellipse">
            <a:avLst/>
          </a:prstGeom>
          <a:solidFill>
            <a:srgbClr val="E36414">
              <a:alpha val="48000"/>
            </a:srgbClr>
          </a:solidFill>
          <a:ln/>
        </p:spPr>
      </p:sp>
      <p:sp>
        <p:nvSpPr>
          <p:cNvPr id="10" name="dot"/>
          <p:cNvSpPr/>
          <p:nvPr/>
        </p:nvSpPr>
        <p:spPr>
          <a:xfrm>
            <a:off x="8805867" y="1285813"/>
            <a:ext cx="172320" cy="172320"/>
          </a:xfrm>
          <a:prstGeom prst="ellipse">
            <a:avLst/>
          </a:prstGeom>
          <a:solidFill>
            <a:srgbClr val="E36414">
              <a:alpha val="51000"/>
            </a:srgbClr>
          </a:solidFill>
          <a:ln/>
        </p:spPr>
      </p:sp>
      <p:sp>
        <p:nvSpPr>
          <p:cNvPr id="11" name="dot"/>
          <p:cNvSpPr/>
          <p:nvPr/>
        </p:nvSpPr>
        <p:spPr>
          <a:xfrm>
            <a:off x="8989082" y="1549386"/>
            <a:ext cx="143948" cy="143948"/>
          </a:xfrm>
          <a:prstGeom prst="ellipse">
            <a:avLst/>
          </a:prstGeom>
          <a:solidFill>
            <a:srgbClr val="E36414">
              <a:alpha val="49000"/>
            </a:srgbClr>
          </a:solidFill>
          <a:ln/>
        </p:spPr>
      </p:sp>
      <p:sp>
        <p:nvSpPr>
          <p:cNvPr id="12" name="dot"/>
          <p:cNvSpPr/>
          <p:nvPr/>
        </p:nvSpPr>
        <p:spPr>
          <a:xfrm>
            <a:off x="8712390" y="1734553"/>
            <a:ext cx="172265" cy="172265"/>
          </a:xfrm>
          <a:prstGeom prst="ellipse">
            <a:avLst/>
          </a:prstGeom>
          <a:solidFill>
            <a:srgbClr val="E36414">
              <a:alpha val="56000"/>
            </a:srgbClr>
          </a:solidFill>
          <a:ln/>
        </p:spPr>
      </p:sp>
      <p:sp>
        <p:nvSpPr>
          <p:cNvPr id="13" name="dot"/>
          <p:cNvSpPr/>
          <p:nvPr/>
        </p:nvSpPr>
        <p:spPr>
          <a:xfrm>
            <a:off x="9567699" y="1585409"/>
            <a:ext cx="120960" cy="120960"/>
          </a:xfrm>
          <a:prstGeom prst="ellipse">
            <a:avLst/>
          </a:prstGeom>
          <a:solidFill>
            <a:srgbClr val="E36414">
              <a:alpha val="55000"/>
            </a:srgbClr>
          </a:solidFill>
          <a:ln/>
        </p:spPr>
      </p:sp>
      <p:sp>
        <p:nvSpPr>
          <p:cNvPr id="14" name="dot"/>
          <p:cNvSpPr/>
          <p:nvPr/>
        </p:nvSpPr>
        <p:spPr>
          <a:xfrm>
            <a:off x="9487588" y="1592670"/>
            <a:ext cx="168593" cy="168593"/>
          </a:xfrm>
          <a:prstGeom prst="ellipse">
            <a:avLst/>
          </a:prstGeom>
          <a:solidFill>
            <a:srgbClr val="E36414">
              <a:alpha val="53000"/>
            </a:srgbClr>
          </a:solidFill>
          <a:ln/>
        </p:spPr>
      </p:sp>
      <p:sp>
        <p:nvSpPr>
          <p:cNvPr id="15" name="dot"/>
          <p:cNvSpPr/>
          <p:nvPr/>
        </p:nvSpPr>
        <p:spPr>
          <a:xfrm>
            <a:off x="9572703" y="1504861"/>
            <a:ext cx="143766" cy="143766"/>
          </a:xfrm>
          <a:prstGeom prst="ellipse">
            <a:avLst/>
          </a:prstGeom>
          <a:solidFill>
            <a:srgbClr val="E36414">
              <a:alpha val="60000"/>
            </a:srgbClr>
          </a:solidFill>
          <a:ln/>
        </p:spPr>
      </p:sp>
      <p:sp>
        <p:nvSpPr>
          <p:cNvPr id="16" name="dot"/>
          <p:cNvSpPr/>
          <p:nvPr/>
        </p:nvSpPr>
        <p:spPr>
          <a:xfrm>
            <a:off x="9094583" y="1522327"/>
            <a:ext cx="123679" cy="123679"/>
          </a:xfrm>
          <a:prstGeom prst="ellipse">
            <a:avLst/>
          </a:prstGeom>
          <a:solidFill>
            <a:srgbClr val="E36414">
              <a:alpha val="62000"/>
            </a:srgbClr>
          </a:solidFill>
          <a:ln/>
        </p:spPr>
      </p:sp>
      <p:sp>
        <p:nvSpPr>
          <p:cNvPr id="17" name="dot"/>
          <p:cNvSpPr/>
          <p:nvPr/>
        </p:nvSpPr>
        <p:spPr>
          <a:xfrm>
            <a:off x="8304628" y="2118937"/>
            <a:ext cx="195431" cy="195431"/>
          </a:xfrm>
          <a:prstGeom prst="ellipse">
            <a:avLst/>
          </a:prstGeom>
          <a:solidFill>
            <a:srgbClr val="E36414">
              <a:alpha val="54000"/>
            </a:srgbClr>
          </a:solidFill>
          <a:ln/>
        </p:spPr>
      </p:sp>
      <p:sp>
        <p:nvSpPr>
          <p:cNvPr id="18" name="dot"/>
          <p:cNvSpPr/>
          <p:nvPr/>
        </p:nvSpPr>
        <p:spPr>
          <a:xfrm>
            <a:off x="8695746" y="1147144"/>
            <a:ext cx="115088" cy="115088"/>
          </a:xfrm>
          <a:prstGeom prst="ellipse">
            <a:avLst/>
          </a:prstGeom>
          <a:solidFill>
            <a:srgbClr val="E36414">
              <a:alpha val="62000"/>
            </a:srgbClr>
          </a:solidFill>
          <a:ln/>
        </p:spPr>
      </p:sp>
      <p:sp>
        <p:nvSpPr>
          <p:cNvPr id="19" name="dot"/>
          <p:cNvSpPr/>
          <p:nvPr/>
        </p:nvSpPr>
        <p:spPr>
          <a:xfrm>
            <a:off x="8162788" y="1707227"/>
            <a:ext cx="148265" cy="148265"/>
          </a:xfrm>
          <a:prstGeom prst="ellipse">
            <a:avLst/>
          </a:prstGeom>
          <a:solidFill>
            <a:srgbClr val="E36414">
              <a:alpha val="65000"/>
            </a:srgbClr>
          </a:solidFill>
          <a:ln/>
        </p:spPr>
      </p:sp>
      <p:sp>
        <p:nvSpPr>
          <p:cNvPr id="20" name="dot"/>
          <p:cNvSpPr/>
          <p:nvPr/>
        </p:nvSpPr>
        <p:spPr>
          <a:xfrm>
            <a:off x="8986310" y="1829927"/>
            <a:ext cx="143146" cy="143146"/>
          </a:xfrm>
          <a:prstGeom prst="ellipse">
            <a:avLst/>
          </a:prstGeom>
          <a:solidFill>
            <a:srgbClr val="E36414">
              <a:alpha val="60000"/>
            </a:srgbClr>
          </a:solidFill>
          <a:ln/>
        </p:spPr>
      </p:sp>
      <p:sp>
        <p:nvSpPr>
          <p:cNvPr id="21" name="dot"/>
          <p:cNvSpPr/>
          <p:nvPr/>
        </p:nvSpPr>
        <p:spPr>
          <a:xfrm>
            <a:off x="8320654" y="1216010"/>
            <a:ext cx="156806" cy="156806"/>
          </a:xfrm>
          <a:prstGeom prst="ellipse">
            <a:avLst/>
          </a:prstGeom>
          <a:solidFill>
            <a:srgbClr val="E36414">
              <a:alpha val="66000"/>
            </a:srgbClr>
          </a:solidFill>
          <a:ln/>
        </p:spPr>
      </p:sp>
      <p:sp>
        <p:nvSpPr>
          <p:cNvPr id="22" name="dot"/>
          <p:cNvSpPr/>
          <p:nvPr/>
        </p:nvSpPr>
        <p:spPr>
          <a:xfrm>
            <a:off x="8376190" y="2198707"/>
            <a:ext cx="143054" cy="143054"/>
          </a:xfrm>
          <a:prstGeom prst="ellipse">
            <a:avLst/>
          </a:prstGeom>
          <a:solidFill>
            <a:srgbClr val="E36414">
              <a:alpha val="58000"/>
            </a:srgbClr>
          </a:solidFill>
          <a:ln/>
        </p:spPr>
      </p:sp>
      <p:sp>
        <p:nvSpPr>
          <p:cNvPr id="23" name="dot"/>
          <p:cNvSpPr/>
          <p:nvPr/>
        </p:nvSpPr>
        <p:spPr>
          <a:xfrm>
            <a:off x="8441302" y="2478810"/>
            <a:ext cx="165876" cy="165876"/>
          </a:xfrm>
          <a:prstGeom prst="ellipse">
            <a:avLst/>
          </a:prstGeom>
          <a:solidFill>
            <a:srgbClr val="E36414">
              <a:alpha val="64000"/>
            </a:srgbClr>
          </a:solidFill>
          <a:ln/>
        </p:spPr>
      </p:sp>
      <p:sp>
        <p:nvSpPr>
          <p:cNvPr id="24" name="dot"/>
          <p:cNvSpPr/>
          <p:nvPr/>
        </p:nvSpPr>
        <p:spPr>
          <a:xfrm>
            <a:off x="9313445" y="1591476"/>
            <a:ext cx="188642" cy="188642"/>
          </a:xfrm>
          <a:prstGeom prst="ellipse">
            <a:avLst/>
          </a:prstGeom>
          <a:solidFill>
            <a:srgbClr val="E36414">
              <a:alpha val="51000"/>
            </a:srgbClr>
          </a:solidFill>
          <a:ln/>
        </p:spPr>
      </p:sp>
      <p:sp>
        <p:nvSpPr>
          <p:cNvPr id="25" name="dot"/>
          <p:cNvSpPr/>
          <p:nvPr/>
        </p:nvSpPr>
        <p:spPr>
          <a:xfrm>
            <a:off x="8335537" y="1467289"/>
            <a:ext cx="155901" cy="155901"/>
          </a:xfrm>
          <a:prstGeom prst="ellipse">
            <a:avLst/>
          </a:prstGeom>
          <a:solidFill>
            <a:srgbClr val="E36414">
              <a:alpha val="50000"/>
            </a:srgbClr>
          </a:solidFill>
          <a:ln/>
        </p:spPr>
      </p:sp>
      <p:sp>
        <p:nvSpPr>
          <p:cNvPr id="26" name="dot"/>
          <p:cNvSpPr/>
          <p:nvPr/>
        </p:nvSpPr>
        <p:spPr>
          <a:xfrm>
            <a:off x="9341395" y="1721564"/>
            <a:ext cx="174489" cy="174489"/>
          </a:xfrm>
          <a:prstGeom prst="ellipse">
            <a:avLst/>
          </a:prstGeom>
          <a:solidFill>
            <a:srgbClr val="E36414">
              <a:alpha val="63000"/>
            </a:srgbClr>
          </a:solidFill>
          <a:ln/>
        </p:spPr>
      </p:sp>
      <p:sp>
        <p:nvSpPr>
          <p:cNvPr id="27" name="dot"/>
          <p:cNvSpPr/>
          <p:nvPr/>
        </p:nvSpPr>
        <p:spPr>
          <a:xfrm>
            <a:off x="8316073" y="1674769"/>
            <a:ext cx="139958" cy="139958"/>
          </a:xfrm>
          <a:prstGeom prst="ellipse">
            <a:avLst/>
          </a:prstGeom>
          <a:solidFill>
            <a:srgbClr val="E36414">
              <a:alpha val="59000"/>
            </a:srgbClr>
          </a:solidFill>
          <a:ln/>
        </p:spPr>
      </p:sp>
      <p:sp>
        <p:nvSpPr>
          <p:cNvPr id="28" name="dot"/>
          <p:cNvSpPr/>
          <p:nvPr/>
        </p:nvSpPr>
        <p:spPr>
          <a:xfrm>
            <a:off x="9057840" y="1169857"/>
            <a:ext cx="119885" cy="119885"/>
          </a:xfrm>
          <a:prstGeom prst="ellipse">
            <a:avLst/>
          </a:prstGeom>
          <a:solidFill>
            <a:srgbClr val="E36414">
              <a:alpha val="46000"/>
            </a:srgbClr>
          </a:solidFill>
          <a:ln/>
        </p:spPr>
      </p:sp>
      <p:sp>
        <p:nvSpPr>
          <p:cNvPr id="29" name="dot"/>
          <p:cNvSpPr/>
          <p:nvPr/>
        </p:nvSpPr>
        <p:spPr>
          <a:xfrm>
            <a:off x="9346006" y="2209753"/>
            <a:ext cx="123771" cy="123771"/>
          </a:xfrm>
          <a:prstGeom prst="ellipse">
            <a:avLst/>
          </a:prstGeom>
          <a:solidFill>
            <a:srgbClr val="E36414">
              <a:alpha val="68000"/>
            </a:srgbClr>
          </a:solidFill>
          <a:ln/>
        </p:spPr>
      </p:sp>
      <p:sp>
        <p:nvSpPr>
          <p:cNvPr id="30" name="dot"/>
          <p:cNvSpPr/>
          <p:nvPr/>
        </p:nvSpPr>
        <p:spPr>
          <a:xfrm>
            <a:off x="9233972" y="1918115"/>
            <a:ext cx="167551" cy="167551"/>
          </a:xfrm>
          <a:prstGeom prst="ellipse">
            <a:avLst/>
          </a:prstGeom>
          <a:solidFill>
            <a:srgbClr val="E36414">
              <a:alpha val="66000"/>
            </a:srgbClr>
          </a:solidFill>
          <a:ln/>
        </p:spPr>
      </p:sp>
      <p:sp>
        <p:nvSpPr>
          <p:cNvPr id="31" name="dot"/>
          <p:cNvSpPr/>
          <p:nvPr/>
        </p:nvSpPr>
        <p:spPr>
          <a:xfrm>
            <a:off x="8099311" y="2128667"/>
            <a:ext cx="122328" cy="122328"/>
          </a:xfrm>
          <a:prstGeom prst="ellipse">
            <a:avLst/>
          </a:prstGeom>
          <a:solidFill>
            <a:srgbClr val="E36414">
              <a:alpha val="43000"/>
            </a:srgbClr>
          </a:solidFill>
          <a:ln/>
        </p:spPr>
      </p:sp>
      <p:sp>
        <p:nvSpPr>
          <p:cNvPr id="32" name="dot"/>
          <p:cNvSpPr/>
          <p:nvPr/>
        </p:nvSpPr>
        <p:spPr>
          <a:xfrm>
            <a:off x="9449030" y="1372439"/>
            <a:ext cx="190673" cy="190673"/>
          </a:xfrm>
          <a:prstGeom prst="ellipse">
            <a:avLst/>
          </a:prstGeom>
          <a:solidFill>
            <a:srgbClr val="E36414">
              <a:alpha val="43000"/>
            </a:srgbClr>
          </a:solidFill>
          <a:ln/>
        </p:spPr>
      </p:sp>
      <p:sp>
        <p:nvSpPr>
          <p:cNvPr id="33" name="dot"/>
          <p:cNvSpPr/>
          <p:nvPr/>
        </p:nvSpPr>
        <p:spPr>
          <a:xfrm>
            <a:off x="8849300" y="1501557"/>
            <a:ext cx="110687" cy="110687"/>
          </a:xfrm>
          <a:prstGeom prst="ellipse">
            <a:avLst/>
          </a:prstGeom>
          <a:solidFill>
            <a:srgbClr val="E36414">
              <a:alpha val="63000"/>
            </a:srgbClr>
          </a:solidFill>
          <a:ln/>
        </p:spPr>
      </p:sp>
      <p:sp>
        <p:nvSpPr>
          <p:cNvPr id="34" name="dot"/>
          <p:cNvSpPr/>
          <p:nvPr/>
        </p:nvSpPr>
        <p:spPr>
          <a:xfrm>
            <a:off x="10832063" y="2676029"/>
            <a:ext cx="166132" cy="166132"/>
          </a:xfrm>
          <a:prstGeom prst="ellipse">
            <a:avLst/>
          </a:prstGeom>
          <a:solidFill>
            <a:srgbClr val="7FB7B0">
              <a:alpha val="64000"/>
            </a:srgbClr>
          </a:solidFill>
          <a:ln/>
        </p:spPr>
      </p:sp>
      <p:sp>
        <p:nvSpPr>
          <p:cNvPr id="35" name="dot"/>
          <p:cNvSpPr/>
          <p:nvPr/>
        </p:nvSpPr>
        <p:spPr>
          <a:xfrm>
            <a:off x="10757815" y="2050167"/>
            <a:ext cx="172595" cy="172595"/>
          </a:xfrm>
          <a:prstGeom prst="ellipse">
            <a:avLst/>
          </a:prstGeom>
          <a:solidFill>
            <a:srgbClr val="7FB7B0">
              <a:alpha val="63000"/>
            </a:srgbClr>
          </a:solidFill>
          <a:ln/>
        </p:spPr>
      </p:sp>
      <p:sp>
        <p:nvSpPr>
          <p:cNvPr id="36" name="dot"/>
          <p:cNvSpPr/>
          <p:nvPr/>
        </p:nvSpPr>
        <p:spPr>
          <a:xfrm>
            <a:off x="11151267" y="2386872"/>
            <a:ext cx="143922" cy="143922"/>
          </a:xfrm>
          <a:prstGeom prst="ellipse">
            <a:avLst/>
          </a:prstGeom>
          <a:solidFill>
            <a:srgbClr val="7FB7B0">
              <a:alpha val="44000"/>
            </a:srgbClr>
          </a:solidFill>
          <a:ln/>
        </p:spPr>
      </p:sp>
      <p:sp>
        <p:nvSpPr>
          <p:cNvPr id="37" name="dot"/>
          <p:cNvSpPr/>
          <p:nvPr/>
        </p:nvSpPr>
        <p:spPr>
          <a:xfrm>
            <a:off x="11318250" y="3099582"/>
            <a:ext cx="110000" cy="110000"/>
          </a:xfrm>
          <a:prstGeom prst="ellipse">
            <a:avLst/>
          </a:prstGeom>
          <a:solidFill>
            <a:srgbClr val="7FB7B0">
              <a:alpha val="43000"/>
            </a:srgbClr>
          </a:solidFill>
          <a:ln/>
        </p:spPr>
      </p:sp>
      <p:sp>
        <p:nvSpPr>
          <p:cNvPr id="38" name="dot"/>
          <p:cNvSpPr/>
          <p:nvPr/>
        </p:nvSpPr>
        <p:spPr>
          <a:xfrm>
            <a:off x="10227046" y="2055071"/>
            <a:ext cx="111648" cy="111648"/>
          </a:xfrm>
          <a:prstGeom prst="ellipse">
            <a:avLst/>
          </a:prstGeom>
          <a:solidFill>
            <a:srgbClr val="7FB7B0">
              <a:alpha val="43000"/>
            </a:srgbClr>
          </a:solidFill>
          <a:ln/>
        </p:spPr>
      </p:sp>
      <p:sp>
        <p:nvSpPr>
          <p:cNvPr id="39" name="dot"/>
          <p:cNvSpPr/>
          <p:nvPr/>
        </p:nvSpPr>
        <p:spPr>
          <a:xfrm>
            <a:off x="11157128" y="3453688"/>
            <a:ext cx="161417" cy="161417"/>
          </a:xfrm>
          <a:prstGeom prst="ellipse">
            <a:avLst/>
          </a:prstGeom>
          <a:solidFill>
            <a:srgbClr val="7FB7B0">
              <a:alpha val="50000"/>
            </a:srgbClr>
          </a:solidFill>
          <a:ln/>
        </p:spPr>
      </p:sp>
      <p:sp>
        <p:nvSpPr>
          <p:cNvPr id="40" name="dot"/>
          <p:cNvSpPr/>
          <p:nvPr/>
        </p:nvSpPr>
        <p:spPr>
          <a:xfrm>
            <a:off x="10770936" y="3086655"/>
            <a:ext cx="128833" cy="128833"/>
          </a:xfrm>
          <a:prstGeom prst="ellipse">
            <a:avLst/>
          </a:prstGeom>
          <a:solidFill>
            <a:srgbClr val="7FB7B0">
              <a:alpha val="54000"/>
            </a:srgbClr>
          </a:solidFill>
          <a:ln/>
        </p:spPr>
      </p:sp>
      <p:sp>
        <p:nvSpPr>
          <p:cNvPr id="41" name="dot"/>
          <p:cNvSpPr/>
          <p:nvPr/>
        </p:nvSpPr>
        <p:spPr>
          <a:xfrm>
            <a:off x="11587712" y="2902411"/>
            <a:ext cx="173800" cy="173800"/>
          </a:xfrm>
          <a:prstGeom prst="ellipse">
            <a:avLst/>
          </a:prstGeom>
          <a:solidFill>
            <a:srgbClr val="7FB7B0">
              <a:alpha val="49000"/>
            </a:srgbClr>
          </a:solidFill>
          <a:ln/>
        </p:spPr>
      </p:sp>
      <p:sp>
        <p:nvSpPr>
          <p:cNvPr id="42" name="dot"/>
          <p:cNvSpPr/>
          <p:nvPr/>
        </p:nvSpPr>
        <p:spPr>
          <a:xfrm>
            <a:off x="10648589" y="2685097"/>
            <a:ext cx="119814" cy="119814"/>
          </a:xfrm>
          <a:prstGeom prst="ellipse">
            <a:avLst/>
          </a:prstGeom>
          <a:solidFill>
            <a:srgbClr val="7FB7B0">
              <a:alpha val="43000"/>
            </a:srgbClr>
          </a:solidFill>
          <a:ln/>
        </p:spPr>
      </p:sp>
      <p:sp>
        <p:nvSpPr>
          <p:cNvPr id="43" name="dot"/>
          <p:cNvSpPr/>
          <p:nvPr/>
        </p:nvSpPr>
        <p:spPr>
          <a:xfrm>
            <a:off x="11325424" y="3175038"/>
            <a:ext cx="191386" cy="191386"/>
          </a:xfrm>
          <a:prstGeom prst="ellipse">
            <a:avLst/>
          </a:prstGeom>
          <a:solidFill>
            <a:srgbClr val="7FB7B0">
              <a:alpha val="69000"/>
            </a:srgbClr>
          </a:solidFill>
          <a:ln/>
        </p:spPr>
      </p:sp>
      <p:sp>
        <p:nvSpPr>
          <p:cNvPr id="44" name="dot"/>
          <p:cNvSpPr/>
          <p:nvPr/>
        </p:nvSpPr>
        <p:spPr>
          <a:xfrm>
            <a:off x="11439326" y="2102640"/>
            <a:ext cx="200504" cy="200504"/>
          </a:xfrm>
          <a:prstGeom prst="ellipse">
            <a:avLst/>
          </a:prstGeom>
          <a:solidFill>
            <a:srgbClr val="7FB7B0">
              <a:alpha val="42000"/>
            </a:srgbClr>
          </a:solidFill>
          <a:ln/>
        </p:spPr>
      </p:sp>
      <p:sp>
        <p:nvSpPr>
          <p:cNvPr id="45" name="dot"/>
          <p:cNvSpPr/>
          <p:nvPr/>
        </p:nvSpPr>
        <p:spPr>
          <a:xfrm>
            <a:off x="10872865" y="2116737"/>
            <a:ext cx="132425" cy="132425"/>
          </a:xfrm>
          <a:prstGeom prst="ellipse">
            <a:avLst/>
          </a:prstGeom>
          <a:solidFill>
            <a:srgbClr val="7FB7B0">
              <a:alpha val="49000"/>
            </a:srgbClr>
          </a:solidFill>
          <a:ln/>
        </p:spPr>
      </p:sp>
      <p:sp>
        <p:nvSpPr>
          <p:cNvPr id="46" name="dot"/>
          <p:cNvSpPr/>
          <p:nvPr/>
        </p:nvSpPr>
        <p:spPr>
          <a:xfrm>
            <a:off x="11261010" y="2307846"/>
            <a:ext cx="131193" cy="131193"/>
          </a:xfrm>
          <a:prstGeom prst="ellipse">
            <a:avLst/>
          </a:prstGeom>
          <a:solidFill>
            <a:srgbClr val="7FB7B0">
              <a:alpha val="58000"/>
            </a:srgbClr>
          </a:solidFill>
          <a:ln/>
        </p:spPr>
      </p:sp>
      <p:sp>
        <p:nvSpPr>
          <p:cNvPr id="47" name="dot"/>
          <p:cNvSpPr/>
          <p:nvPr/>
        </p:nvSpPr>
        <p:spPr>
          <a:xfrm>
            <a:off x="11351995" y="2248873"/>
            <a:ext cx="141864" cy="141864"/>
          </a:xfrm>
          <a:prstGeom prst="ellipse">
            <a:avLst/>
          </a:prstGeom>
          <a:solidFill>
            <a:srgbClr val="7FB7B0">
              <a:alpha val="52000"/>
            </a:srgbClr>
          </a:solidFill>
          <a:ln/>
        </p:spPr>
      </p:sp>
      <p:sp>
        <p:nvSpPr>
          <p:cNvPr id="48" name="dot"/>
          <p:cNvSpPr/>
          <p:nvPr/>
        </p:nvSpPr>
        <p:spPr>
          <a:xfrm>
            <a:off x="10740843" y="2154648"/>
            <a:ext cx="176040" cy="176040"/>
          </a:xfrm>
          <a:prstGeom prst="ellipse">
            <a:avLst/>
          </a:prstGeom>
          <a:solidFill>
            <a:srgbClr val="7FB7B0">
              <a:alpha val="58000"/>
            </a:srgbClr>
          </a:solidFill>
          <a:ln/>
        </p:spPr>
      </p:sp>
      <p:sp>
        <p:nvSpPr>
          <p:cNvPr id="49" name="dot"/>
          <p:cNvSpPr/>
          <p:nvPr/>
        </p:nvSpPr>
        <p:spPr>
          <a:xfrm>
            <a:off x="10950691" y="3103222"/>
            <a:ext cx="199840" cy="199840"/>
          </a:xfrm>
          <a:prstGeom prst="ellipse">
            <a:avLst/>
          </a:prstGeom>
          <a:solidFill>
            <a:srgbClr val="7FB7B0">
              <a:alpha val="41000"/>
            </a:srgbClr>
          </a:solidFill>
          <a:ln/>
        </p:spPr>
      </p:sp>
      <p:sp>
        <p:nvSpPr>
          <p:cNvPr id="50" name="dot"/>
          <p:cNvSpPr/>
          <p:nvPr/>
        </p:nvSpPr>
        <p:spPr>
          <a:xfrm>
            <a:off x="10183455" y="2046691"/>
            <a:ext cx="193699" cy="193699"/>
          </a:xfrm>
          <a:prstGeom prst="ellipse">
            <a:avLst/>
          </a:prstGeom>
          <a:solidFill>
            <a:srgbClr val="7FB7B0">
              <a:alpha val="65000"/>
            </a:srgbClr>
          </a:solidFill>
          <a:ln/>
        </p:spPr>
      </p:sp>
      <p:sp>
        <p:nvSpPr>
          <p:cNvPr id="51" name="dot"/>
          <p:cNvSpPr/>
          <p:nvPr/>
        </p:nvSpPr>
        <p:spPr>
          <a:xfrm>
            <a:off x="10588599" y="2412791"/>
            <a:ext cx="155214" cy="155214"/>
          </a:xfrm>
          <a:prstGeom prst="ellipse">
            <a:avLst/>
          </a:prstGeom>
          <a:solidFill>
            <a:srgbClr val="7FB7B0">
              <a:alpha val="54000"/>
            </a:srgbClr>
          </a:solidFill>
          <a:ln/>
        </p:spPr>
      </p:sp>
      <p:sp>
        <p:nvSpPr>
          <p:cNvPr id="52" name="dot"/>
          <p:cNvSpPr/>
          <p:nvPr/>
        </p:nvSpPr>
        <p:spPr>
          <a:xfrm>
            <a:off x="10928907" y="1829110"/>
            <a:ext cx="153809" cy="153809"/>
          </a:xfrm>
          <a:prstGeom prst="ellipse">
            <a:avLst/>
          </a:prstGeom>
          <a:solidFill>
            <a:srgbClr val="7FB7B0">
              <a:alpha val="65000"/>
            </a:srgbClr>
          </a:solidFill>
          <a:ln/>
        </p:spPr>
      </p:sp>
      <p:sp>
        <p:nvSpPr>
          <p:cNvPr id="53" name="dot"/>
          <p:cNvSpPr/>
          <p:nvPr/>
        </p:nvSpPr>
        <p:spPr>
          <a:xfrm>
            <a:off x="10428434" y="2774494"/>
            <a:ext cx="170317" cy="170317"/>
          </a:xfrm>
          <a:prstGeom prst="ellipse">
            <a:avLst/>
          </a:prstGeom>
          <a:solidFill>
            <a:srgbClr val="7FB7B0">
              <a:alpha val="55000"/>
            </a:srgbClr>
          </a:solidFill>
          <a:ln/>
        </p:spPr>
      </p:sp>
      <p:sp>
        <p:nvSpPr>
          <p:cNvPr id="54" name="dot"/>
          <p:cNvSpPr/>
          <p:nvPr/>
        </p:nvSpPr>
        <p:spPr>
          <a:xfrm>
            <a:off x="10161831" y="2420651"/>
            <a:ext cx="178961" cy="178961"/>
          </a:xfrm>
          <a:prstGeom prst="ellipse">
            <a:avLst/>
          </a:prstGeom>
          <a:solidFill>
            <a:srgbClr val="7FB7B0">
              <a:alpha val="60000"/>
            </a:srgbClr>
          </a:solidFill>
          <a:ln/>
        </p:spPr>
      </p:sp>
      <p:sp>
        <p:nvSpPr>
          <p:cNvPr id="55" name="dot"/>
          <p:cNvSpPr/>
          <p:nvPr/>
        </p:nvSpPr>
        <p:spPr>
          <a:xfrm>
            <a:off x="10813663" y="2534554"/>
            <a:ext cx="137054" cy="137054"/>
          </a:xfrm>
          <a:prstGeom prst="ellipse">
            <a:avLst/>
          </a:prstGeom>
          <a:solidFill>
            <a:srgbClr val="7FB7B0">
              <a:alpha val="54000"/>
            </a:srgbClr>
          </a:solidFill>
          <a:ln/>
        </p:spPr>
      </p:sp>
      <p:sp>
        <p:nvSpPr>
          <p:cNvPr id="56" name="dot"/>
          <p:cNvSpPr/>
          <p:nvPr/>
        </p:nvSpPr>
        <p:spPr>
          <a:xfrm>
            <a:off x="11050870" y="3381323"/>
            <a:ext cx="136328" cy="136328"/>
          </a:xfrm>
          <a:prstGeom prst="ellipse">
            <a:avLst/>
          </a:prstGeom>
          <a:solidFill>
            <a:srgbClr val="7FB7B0">
              <a:alpha val="63000"/>
            </a:srgbClr>
          </a:solidFill>
          <a:ln/>
        </p:spPr>
      </p:sp>
      <p:sp>
        <p:nvSpPr>
          <p:cNvPr id="57" name="dot"/>
          <p:cNvSpPr/>
          <p:nvPr/>
        </p:nvSpPr>
        <p:spPr>
          <a:xfrm>
            <a:off x="10486146" y="2205260"/>
            <a:ext cx="116615" cy="116615"/>
          </a:xfrm>
          <a:prstGeom prst="ellipse">
            <a:avLst/>
          </a:prstGeom>
          <a:solidFill>
            <a:srgbClr val="7FB7B0">
              <a:alpha val="47000"/>
            </a:srgbClr>
          </a:solidFill>
          <a:ln/>
        </p:spPr>
      </p:sp>
      <p:sp>
        <p:nvSpPr>
          <p:cNvPr id="58" name="dot"/>
          <p:cNvSpPr/>
          <p:nvPr/>
        </p:nvSpPr>
        <p:spPr>
          <a:xfrm>
            <a:off x="11188872" y="1901127"/>
            <a:ext cx="192940" cy="192940"/>
          </a:xfrm>
          <a:prstGeom prst="ellipse">
            <a:avLst/>
          </a:prstGeom>
          <a:solidFill>
            <a:srgbClr val="7FB7B0">
              <a:alpha val="50000"/>
            </a:srgbClr>
          </a:solidFill>
          <a:ln/>
        </p:spPr>
      </p:sp>
      <p:sp>
        <p:nvSpPr>
          <p:cNvPr id="59" name="dot"/>
          <p:cNvSpPr/>
          <p:nvPr/>
        </p:nvSpPr>
        <p:spPr>
          <a:xfrm>
            <a:off x="10938346" y="2618239"/>
            <a:ext cx="179403" cy="179403"/>
          </a:xfrm>
          <a:prstGeom prst="ellipse">
            <a:avLst/>
          </a:prstGeom>
          <a:solidFill>
            <a:srgbClr val="7FB7B0">
              <a:alpha val="52000"/>
            </a:srgbClr>
          </a:solidFill>
          <a:ln/>
        </p:spPr>
      </p:sp>
      <p:sp>
        <p:nvSpPr>
          <p:cNvPr id="60" name="dot"/>
          <p:cNvSpPr/>
          <p:nvPr/>
        </p:nvSpPr>
        <p:spPr>
          <a:xfrm>
            <a:off x="9397449" y="3611674"/>
            <a:ext cx="113113" cy="113113"/>
          </a:xfrm>
          <a:prstGeom prst="ellipse">
            <a:avLst/>
          </a:prstGeom>
          <a:solidFill>
            <a:srgbClr val="FFFFFF">
              <a:alpha val="66000"/>
            </a:srgbClr>
          </a:solidFill>
          <a:ln/>
        </p:spPr>
      </p:sp>
      <p:sp>
        <p:nvSpPr>
          <p:cNvPr id="61" name="dot"/>
          <p:cNvSpPr/>
          <p:nvPr/>
        </p:nvSpPr>
        <p:spPr>
          <a:xfrm>
            <a:off x="9817681" y="4559917"/>
            <a:ext cx="117486" cy="117486"/>
          </a:xfrm>
          <a:prstGeom prst="ellipse">
            <a:avLst/>
          </a:prstGeom>
          <a:solidFill>
            <a:srgbClr val="FFFFFF">
              <a:alpha val="70000"/>
            </a:srgbClr>
          </a:solidFill>
          <a:ln/>
        </p:spPr>
      </p:sp>
      <p:sp>
        <p:nvSpPr>
          <p:cNvPr id="62" name="dot"/>
          <p:cNvSpPr/>
          <p:nvPr/>
        </p:nvSpPr>
        <p:spPr>
          <a:xfrm>
            <a:off x="8803380" y="3899038"/>
            <a:ext cx="127286" cy="127286"/>
          </a:xfrm>
          <a:prstGeom prst="ellipse">
            <a:avLst/>
          </a:prstGeom>
          <a:solidFill>
            <a:srgbClr val="FFFFFF">
              <a:alpha val="66000"/>
            </a:srgbClr>
          </a:solidFill>
          <a:ln/>
        </p:spPr>
      </p:sp>
      <p:sp>
        <p:nvSpPr>
          <p:cNvPr id="63" name="dot"/>
          <p:cNvSpPr/>
          <p:nvPr/>
        </p:nvSpPr>
        <p:spPr>
          <a:xfrm>
            <a:off x="9767397" y="5096292"/>
            <a:ext cx="131972" cy="131972"/>
          </a:xfrm>
          <a:prstGeom prst="ellipse">
            <a:avLst/>
          </a:prstGeom>
          <a:solidFill>
            <a:srgbClr val="FFFFFF">
              <a:alpha val="57000"/>
            </a:srgbClr>
          </a:solidFill>
          <a:ln/>
        </p:spPr>
      </p:sp>
      <p:sp>
        <p:nvSpPr>
          <p:cNvPr id="64" name="dot"/>
          <p:cNvSpPr/>
          <p:nvPr/>
        </p:nvSpPr>
        <p:spPr>
          <a:xfrm>
            <a:off x="10136261" y="4373349"/>
            <a:ext cx="171336" cy="171336"/>
          </a:xfrm>
          <a:prstGeom prst="ellipse">
            <a:avLst/>
          </a:prstGeom>
          <a:solidFill>
            <a:srgbClr val="FFFFFF">
              <a:alpha val="47000"/>
            </a:srgbClr>
          </a:solidFill>
          <a:ln/>
        </p:spPr>
      </p:sp>
      <p:sp>
        <p:nvSpPr>
          <p:cNvPr id="65" name="dot"/>
          <p:cNvSpPr/>
          <p:nvPr/>
        </p:nvSpPr>
        <p:spPr>
          <a:xfrm>
            <a:off x="9051892" y="4761248"/>
            <a:ext cx="115322" cy="115322"/>
          </a:xfrm>
          <a:prstGeom prst="ellipse">
            <a:avLst/>
          </a:prstGeom>
          <a:solidFill>
            <a:srgbClr val="FFFFFF">
              <a:alpha val="64000"/>
            </a:srgbClr>
          </a:solidFill>
          <a:ln/>
        </p:spPr>
      </p:sp>
      <p:sp>
        <p:nvSpPr>
          <p:cNvPr id="66" name="dot"/>
          <p:cNvSpPr/>
          <p:nvPr/>
        </p:nvSpPr>
        <p:spPr>
          <a:xfrm>
            <a:off x="9873405" y="3616826"/>
            <a:ext cx="123666" cy="123666"/>
          </a:xfrm>
          <a:prstGeom prst="ellipse">
            <a:avLst/>
          </a:prstGeom>
          <a:solidFill>
            <a:srgbClr val="FFFFFF">
              <a:alpha val="43000"/>
            </a:srgbClr>
          </a:solidFill>
          <a:ln/>
        </p:spPr>
      </p:sp>
      <p:sp>
        <p:nvSpPr>
          <p:cNvPr id="67" name="dot"/>
          <p:cNvSpPr/>
          <p:nvPr/>
        </p:nvSpPr>
        <p:spPr>
          <a:xfrm>
            <a:off x="9203246" y="4399483"/>
            <a:ext cx="128942" cy="128942"/>
          </a:xfrm>
          <a:prstGeom prst="ellipse">
            <a:avLst/>
          </a:prstGeom>
          <a:solidFill>
            <a:srgbClr val="FFFFFF">
              <a:alpha val="52000"/>
            </a:srgbClr>
          </a:solidFill>
          <a:ln/>
        </p:spPr>
      </p:sp>
      <p:sp>
        <p:nvSpPr>
          <p:cNvPr id="68" name="dot"/>
          <p:cNvSpPr/>
          <p:nvPr/>
        </p:nvSpPr>
        <p:spPr>
          <a:xfrm>
            <a:off x="9661727" y="4626318"/>
            <a:ext cx="134666" cy="134666"/>
          </a:xfrm>
          <a:prstGeom prst="ellipse">
            <a:avLst/>
          </a:prstGeom>
          <a:solidFill>
            <a:srgbClr val="FFFFFF">
              <a:alpha val="51000"/>
            </a:srgbClr>
          </a:solidFill>
          <a:ln/>
        </p:spPr>
      </p:sp>
      <p:sp>
        <p:nvSpPr>
          <p:cNvPr id="69" name="dot"/>
          <p:cNvSpPr/>
          <p:nvPr/>
        </p:nvSpPr>
        <p:spPr>
          <a:xfrm>
            <a:off x="8879155" y="4172383"/>
            <a:ext cx="200603" cy="200603"/>
          </a:xfrm>
          <a:prstGeom prst="ellipse">
            <a:avLst/>
          </a:prstGeom>
          <a:solidFill>
            <a:srgbClr val="FFFFFF">
              <a:alpha val="68000"/>
            </a:srgbClr>
          </a:solidFill>
          <a:ln/>
        </p:spPr>
      </p:sp>
      <p:sp>
        <p:nvSpPr>
          <p:cNvPr id="70" name="dot"/>
          <p:cNvSpPr/>
          <p:nvPr/>
        </p:nvSpPr>
        <p:spPr>
          <a:xfrm>
            <a:off x="9087686" y="4677658"/>
            <a:ext cx="110109" cy="110109"/>
          </a:xfrm>
          <a:prstGeom prst="ellipse">
            <a:avLst/>
          </a:prstGeom>
          <a:solidFill>
            <a:srgbClr val="FFFFFF">
              <a:alpha val="70000"/>
            </a:srgbClr>
          </a:solidFill>
          <a:ln/>
        </p:spPr>
      </p:sp>
      <p:sp>
        <p:nvSpPr>
          <p:cNvPr id="71" name="dot"/>
          <p:cNvSpPr/>
          <p:nvPr/>
        </p:nvSpPr>
        <p:spPr>
          <a:xfrm>
            <a:off x="9288487" y="4550824"/>
            <a:ext cx="131147" cy="131147"/>
          </a:xfrm>
          <a:prstGeom prst="ellipse">
            <a:avLst/>
          </a:prstGeom>
          <a:solidFill>
            <a:srgbClr val="FFFFFF">
              <a:alpha val="43000"/>
            </a:srgbClr>
          </a:solidFill>
          <a:ln/>
        </p:spPr>
      </p:sp>
      <p:sp>
        <p:nvSpPr>
          <p:cNvPr id="72" name="dot"/>
          <p:cNvSpPr/>
          <p:nvPr/>
        </p:nvSpPr>
        <p:spPr>
          <a:xfrm>
            <a:off x="9669629" y="3657723"/>
            <a:ext cx="149672" cy="149672"/>
          </a:xfrm>
          <a:prstGeom prst="ellipse">
            <a:avLst/>
          </a:prstGeom>
          <a:solidFill>
            <a:srgbClr val="FFFFFF">
              <a:alpha val="45000"/>
            </a:srgbClr>
          </a:solidFill>
          <a:ln/>
        </p:spPr>
      </p:sp>
      <p:sp>
        <p:nvSpPr>
          <p:cNvPr id="73" name="dot"/>
          <p:cNvSpPr/>
          <p:nvPr/>
        </p:nvSpPr>
        <p:spPr>
          <a:xfrm>
            <a:off x="10347521" y="4213549"/>
            <a:ext cx="170247" cy="170247"/>
          </a:xfrm>
          <a:prstGeom prst="ellipse">
            <a:avLst/>
          </a:prstGeom>
          <a:solidFill>
            <a:srgbClr val="FFFFFF">
              <a:alpha val="53000"/>
            </a:srgbClr>
          </a:solidFill>
          <a:ln/>
        </p:spPr>
      </p:sp>
      <p:sp>
        <p:nvSpPr>
          <p:cNvPr id="74" name="dot"/>
          <p:cNvSpPr/>
          <p:nvPr/>
        </p:nvSpPr>
        <p:spPr>
          <a:xfrm>
            <a:off x="9171447" y="4855334"/>
            <a:ext cx="155171" cy="155171"/>
          </a:xfrm>
          <a:prstGeom prst="ellipse">
            <a:avLst/>
          </a:prstGeom>
          <a:solidFill>
            <a:srgbClr val="FFFFFF">
              <a:alpha val="56000"/>
            </a:srgbClr>
          </a:solidFill>
          <a:ln/>
        </p:spPr>
      </p:sp>
      <p:sp>
        <p:nvSpPr>
          <p:cNvPr id="75" name="dot"/>
          <p:cNvSpPr/>
          <p:nvPr/>
        </p:nvSpPr>
        <p:spPr>
          <a:xfrm>
            <a:off x="8775857" y="4091974"/>
            <a:ext cx="170546" cy="170546"/>
          </a:xfrm>
          <a:prstGeom prst="ellipse">
            <a:avLst/>
          </a:prstGeom>
          <a:solidFill>
            <a:srgbClr val="FFFFFF">
              <a:alpha val="52000"/>
            </a:srgbClr>
          </a:solidFill>
          <a:ln/>
        </p:spPr>
      </p:sp>
      <p:sp>
        <p:nvSpPr>
          <p:cNvPr id="76" name="dot"/>
          <p:cNvSpPr/>
          <p:nvPr/>
        </p:nvSpPr>
        <p:spPr>
          <a:xfrm>
            <a:off x="9389201" y="3577211"/>
            <a:ext cx="187012" cy="187012"/>
          </a:xfrm>
          <a:prstGeom prst="ellipse">
            <a:avLst/>
          </a:prstGeom>
          <a:solidFill>
            <a:srgbClr val="FFFFFF">
              <a:alpha val="41000"/>
            </a:srgbClr>
          </a:solidFill>
          <a:ln/>
        </p:spPr>
      </p:sp>
      <p:sp>
        <p:nvSpPr>
          <p:cNvPr id="77" name="dot"/>
          <p:cNvSpPr/>
          <p:nvPr/>
        </p:nvSpPr>
        <p:spPr>
          <a:xfrm>
            <a:off x="8885588" y="4612003"/>
            <a:ext cx="197256" cy="197256"/>
          </a:xfrm>
          <a:prstGeom prst="ellipse">
            <a:avLst/>
          </a:prstGeom>
          <a:solidFill>
            <a:srgbClr val="FFFFFF">
              <a:alpha val="41000"/>
            </a:srgbClr>
          </a:solidFill>
          <a:ln/>
        </p:spPr>
      </p:sp>
      <p:sp>
        <p:nvSpPr>
          <p:cNvPr id="78" name="dot"/>
          <p:cNvSpPr/>
          <p:nvPr/>
        </p:nvSpPr>
        <p:spPr>
          <a:xfrm>
            <a:off x="9362168" y="4600580"/>
            <a:ext cx="141071" cy="141071"/>
          </a:xfrm>
          <a:prstGeom prst="ellipse">
            <a:avLst/>
          </a:prstGeom>
          <a:solidFill>
            <a:srgbClr val="FFFFFF">
              <a:alpha val="44000"/>
            </a:srgbClr>
          </a:solidFill>
          <a:ln/>
        </p:spPr>
      </p:sp>
      <p:sp>
        <p:nvSpPr>
          <p:cNvPr id="79" name="dot"/>
          <p:cNvSpPr/>
          <p:nvPr/>
        </p:nvSpPr>
        <p:spPr>
          <a:xfrm>
            <a:off x="9290320" y="3661125"/>
            <a:ext cx="197070" cy="197070"/>
          </a:xfrm>
          <a:prstGeom prst="ellipse">
            <a:avLst/>
          </a:prstGeom>
          <a:solidFill>
            <a:srgbClr val="FFFFFF">
              <a:alpha val="47000"/>
            </a:srgbClr>
          </a:solidFill>
          <a:ln/>
        </p:spPr>
      </p:sp>
      <p:sp>
        <p:nvSpPr>
          <p:cNvPr id="80" name="dot"/>
          <p:cNvSpPr/>
          <p:nvPr/>
        </p:nvSpPr>
        <p:spPr>
          <a:xfrm>
            <a:off x="9634110" y="4797789"/>
            <a:ext cx="182741" cy="182741"/>
          </a:xfrm>
          <a:prstGeom prst="ellipse">
            <a:avLst/>
          </a:prstGeom>
          <a:solidFill>
            <a:srgbClr val="FFFFFF">
              <a:alpha val="67000"/>
            </a:srgbClr>
          </a:solidFill>
          <a:ln/>
        </p:spPr>
      </p:sp>
      <p:sp>
        <p:nvSpPr>
          <p:cNvPr id="81" name="dot"/>
          <p:cNvSpPr/>
          <p:nvPr/>
        </p:nvSpPr>
        <p:spPr>
          <a:xfrm>
            <a:off x="10254477" y="4003338"/>
            <a:ext cx="167810" cy="167810"/>
          </a:xfrm>
          <a:prstGeom prst="ellipse">
            <a:avLst/>
          </a:prstGeom>
          <a:solidFill>
            <a:srgbClr val="FFFFFF">
              <a:alpha val="49000"/>
            </a:srgbClr>
          </a:solidFill>
          <a:ln/>
        </p:spPr>
      </p:sp>
      <p:sp>
        <p:nvSpPr>
          <p:cNvPr id="82" name="dot"/>
          <p:cNvSpPr/>
          <p:nvPr/>
        </p:nvSpPr>
        <p:spPr>
          <a:xfrm>
            <a:off x="8886529" y="4256654"/>
            <a:ext cx="189468" cy="189468"/>
          </a:xfrm>
          <a:prstGeom prst="ellipse">
            <a:avLst/>
          </a:prstGeom>
          <a:solidFill>
            <a:srgbClr val="FFFFFF">
              <a:alpha val="54000"/>
            </a:srgbClr>
          </a:solidFill>
          <a:ln/>
        </p:spPr>
      </p:sp>
      <p:sp>
        <p:nvSpPr>
          <p:cNvPr id="83" name="dot"/>
          <p:cNvSpPr/>
          <p:nvPr/>
        </p:nvSpPr>
        <p:spPr>
          <a:xfrm>
            <a:off x="9863472" y="4072134"/>
            <a:ext cx="172515" cy="172515"/>
          </a:xfrm>
          <a:prstGeom prst="ellipse">
            <a:avLst/>
          </a:prstGeom>
          <a:solidFill>
            <a:srgbClr val="FFFFFF">
              <a:alpha val="57000"/>
            </a:srgbClr>
          </a:solidFill>
          <a:ln/>
        </p:spPr>
      </p:sp>
      <p:sp>
        <p:nvSpPr>
          <p:cNvPr id="84" name="dot"/>
          <p:cNvSpPr/>
          <p:nvPr/>
        </p:nvSpPr>
        <p:spPr>
          <a:xfrm>
            <a:off x="9192336" y="4629183"/>
            <a:ext cx="163591" cy="163591"/>
          </a:xfrm>
          <a:prstGeom prst="ellipse">
            <a:avLst/>
          </a:prstGeom>
          <a:solidFill>
            <a:srgbClr val="FFFFFF">
              <a:alpha val="64000"/>
            </a:srgbClr>
          </a:solidFill>
          <a:ln/>
        </p:spPr>
      </p:sp>
      <p:sp>
        <p:nvSpPr>
          <p:cNvPr id="85" name="dot"/>
          <p:cNvSpPr/>
          <p:nvPr/>
        </p:nvSpPr>
        <p:spPr>
          <a:xfrm>
            <a:off x="10227979" y="3942564"/>
            <a:ext cx="140634" cy="140634"/>
          </a:xfrm>
          <a:prstGeom prst="ellipse">
            <a:avLst/>
          </a:prstGeom>
          <a:solidFill>
            <a:srgbClr val="FFFFFF">
              <a:alpha val="5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Why group customers at all?</a:t>
            </a:r>
            <a:endParaRPr lang="en-US" sz="3200" dirty="0"/>
          </a:p>
        </p:txBody>
      </p:sp>
      <p:sp>
        <p:nvSpPr>
          <p:cNvPr id="4" name="Text 1"/>
          <p:cNvSpPr txBox="1"/>
          <p:nvPr/>
        </p:nvSpPr>
        <p:spPr>
          <a:xfrm>
            <a:off x="548640" y="1463040"/>
            <a:ext cx="4846320" cy="2011680"/>
          </a:xfrm>
          <a:prstGeom prst="rect">
            <a:avLst/>
          </a:prstGeom>
          <a:noFill/>
          <a:ln/>
        </p:spPr>
        <p:txBody>
          <a:bodyPr wrap="square" lIns="0" tIns="0" rIns="0" bIns="0" rtlCol="0" anchor="t"/>
          <a:lstStyle/>
          <a:p>
            <a:pPr indent="0" marL="0">
              <a:buNone/>
            </a:pPr>
            <a:r>
              <a:rPr lang="en-US" sz="2600" b="1" dirty="0">
                <a:solidFill>
                  <a:srgbClr val="0F4C5C"/>
                </a:solidFill>
                <a:latin typeface="Cambria" pitchFamily="34" charset="0"/>
                <a:ea typeface="Cambria" pitchFamily="34" charset="-122"/>
                <a:cs typeface="Cambria" pitchFamily="34" charset="-120"/>
              </a:rPr>
              <a:t>One offer for every customer rarely fits. We looked for natural groups in customer data instead.</a:t>
            </a:r>
            <a:endParaRPr lang="en-US" sz="2600" dirty="0"/>
          </a:p>
        </p:txBody>
      </p:sp>
      <p:sp>
        <p:nvSpPr>
          <p:cNvPr id="5" name="Text 2"/>
          <p:cNvSpPr txBox="1"/>
          <p:nvPr/>
        </p:nvSpPr>
        <p:spPr>
          <a:xfrm>
            <a:off x="548640" y="3931920"/>
            <a:ext cx="4572000" cy="274320"/>
          </a:xfrm>
          <a:prstGeom prst="rect">
            <a:avLst/>
          </a:prstGeom>
          <a:noFill/>
          <a:ln/>
        </p:spPr>
        <p:txBody>
          <a:bodyPr wrap="square" lIns="0" tIns="0" rIns="0" bIns="0" rtlCol="0" anchor="t"/>
          <a:lstStyle/>
          <a:p>
            <a:pPr indent="0" marL="0">
              <a:buNone/>
            </a:pPr>
            <a:r>
              <a:rPr lang="en-US" sz="1400" b="1" dirty="0">
                <a:solidFill>
                  <a:srgbClr val="E36414"/>
                </a:solidFill>
              </a:rPr>
              <a:t>Objective</a:t>
            </a:r>
            <a:endParaRPr lang="en-US" sz="1400" dirty="0"/>
          </a:p>
        </p:txBody>
      </p:sp>
      <p:sp>
        <p:nvSpPr>
          <p:cNvPr id="6" name="Text 3"/>
          <p:cNvSpPr txBox="1"/>
          <p:nvPr/>
        </p:nvSpPr>
        <p:spPr>
          <a:xfrm>
            <a:off x="548640" y="4251960"/>
            <a:ext cx="4846320" cy="1097280"/>
          </a:xfrm>
          <a:prstGeom prst="rect">
            <a:avLst/>
          </a:prstGeom>
          <a:noFill/>
          <a:ln/>
        </p:spPr>
        <p:txBody>
          <a:bodyPr wrap="square" lIns="0" tIns="0" rIns="0" bIns="0" rtlCol="0" anchor="t"/>
          <a:lstStyle/>
          <a:p>
            <a:pPr indent="0" marL="0">
              <a:buNone/>
            </a:pPr>
            <a:r>
              <a:rPr lang="en-US" sz="1600" dirty="0">
                <a:solidFill>
                  <a:srgbClr val="1B2B34"/>
                </a:solidFill>
              </a:rPr>
              <a:t>Cluster customers without using labels, compare three algorithms, and describe what each group looks like.</a:t>
            </a:r>
            <a:endParaRPr lang="en-US" sz="1600" dirty="0"/>
          </a:p>
        </p:txBody>
      </p:sp>
      <p:sp>
        <p:nvSpPr>
          <p:cNvPr id="7" name="card"/>
          <p:cNvSpPr/>
          <p:nvPr/>
        </p:nvSpPr>
        <p:spPr>
          <a:xfrm>
            <a:off x="5943600" y="1463040"/>
            <a:ext cx="5669280" cy="2011680"/>
          </a:xfrm>
          <a:prstGeom prst="roundRect">
            <a:avLst>
              <a:gd name="adj" fmla="val 3636"/>
            </a:avLst>
          </a:prstGeom>
          <a:solidFill>
            <a:srgbClr val="FFFFFF"/>
          </a:solidFill>
          <a:ln w="9525">
            <a:solidFill>
              <a:srgbClr val="D5DEDC"/>
            </a:solidFill>
            <a:prstDash val="solid"/>
          </a:ln>
        </p:spPr>
      </p:sp>
      <p:sp>
        <p:nvSpPr>
          <p:cNvPr id="8" name="Text 5"/>
          <p:cNvSpPr txBox="1"/>
          <p:nvPr/>
        </p:nvSpPr>
        <p:spPr>
          <a:xfrm>
            <a:off x="6217920" y="1691640"/>
            <a:ext cx="5120640" cy="320040"/>
          </a:xfrm>
          <a:prstGeom prst="rect">
            <a:avLst/>
          </a:prstGeom>
          <a:noFill/>
          <a:ln/>
        </p:spPr>
        <p:txBody>
          <a:bodyPr wrap="square" lIns="0" tIns="0" rIns="0" bIns="0" rtlCol="0" anchor="t"/>
          <a:lstStyle/>
          <a:p>
            <a:pPr indent="0" marL="0">
              <a:buNone/>
            </a:pPr>
            <a:r>
              <a:rPr lang="en-US" sz="1400" b="1" dirty="0">
                <a:solidFill>
                  <a:srgbClr val="E36414"/>
                </a:solidFill>
              </a:rPr>
              <a:t>Project 1  |  Churn data</a:t>
            </a:r>
            <a:endParaRPr lang="en-US" sz="1400" dirty="0"/>
          </a:p>
        </p:txBody>
      </p:sp>
      <p:sp>
        <p:nvSpPr>
          <p:cNvPr id="9" name="Text 6"/>
          <p:cNvSpPr txBox="1"/>
          <p:nvPr/>
        </p:nvSpPr>
        <p:spPr>
          <a:xfrm>
            <a:off x="6217920" y="2148840"/>
            <a:ext cx="5120640" cy="365760"/>
          </a:xfrm>
          <a:prstGeom prst="rect">
            <a:avLst/>
          </a:prstGeom>
          <a:noFill/>
          <a:ln/>
        </p:spPr>
        <p:txBody>
          <a:bodyPr wrap="square" lIns="0" tIns="0" rIns="0" bIns="0" rtlCol="0" anchor="t"/>
          <a:lstStyle/>
          <a:p>
            <a:pPr indent="0" marL="0">
              <a:buNone/>
            </a:pPr>
            <a:r>
              <a:rPr lang="en-US" sz="1600" dirty="0">
                <a:solidFill>
                  <a:srgbClr val="1B2B34"/>
                </a:solidFill>
              </a:rPr>
              <a:t>180 customers, 11 features plus a Churn label.</a:t>
            </a:r>
            <a:endParaRPr lang="en-US" sz="1600" dirty="0"/>
          </a:p>
        </p:txBody>
      </p:sp>
      <p:sp>
        <p:nvSpPr>
          <p:cNvPr id="10" name="Text 7"/>
          <p:cNvSpPr txBox="1"/>
          <p:nvPr/>
        </p:nvSpPr>
        <p:spPr>
          <a:xfrm>
            <a:off x="6217920" y="2606040"/>
            <a:ext cx="5120640" cy="64008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Which kind of customer is more likely to leave?</a:t>
            </a:r>
            <a:endParaRPr lang="en-US" sz="2000" dirty="0"/>
          </a:p>
        </p:txBody>
      </p:sp>
      <p:sp>
        <p:nvSpPr>
          <p:cNvPr id="11" name="card"/>
          <p:cNvSpPr/>
          <p:nvPr/>
        </p:nvSpPr>
        <p:spPr>
          <a:xfrm>
            <a:off x="5943600" y="3749040"/>
            <a:ext cx="5669280" cy="2011680"/>
          </a:xfrm>
          <a:prstGeom prst="roundRect">
            <a:avLst>
              <a:gd name="adj" fmla="val 3636"/>
            </a:avLst>
          </a:prstGeom>
          <a:solidFill>
            <a:srgbClr val="FFFFFF"/>
          </a:solidFill>
          <a:ln w="9525">
            <a:solidFill>
              <a:srgbClr val="D5DEDC"/>
            </a:solidFill>
            <a:prstDash val="solid"/>
          </a:ln>
        </p:spPr>
      </p:sp>
      <p:sp>
        <p:nvSpPr>
          <p:cNvPr id="12" name="Text 9"/>
          <p:cNvSpPr txBox="1"/>
          <p:nvPr/>
        </p:nvSpPr>
        <p:spPr>
          <a:xfrm>
            <a:off x="6217920" y="3977640"/>
            <a:ext cx="5120640" cy="320040"/>
          </a:xfrm>
          <a:prstGeom prst="rect">
            <a:avLst/>
          </a:prstGeom>
          <a:noFill/>
          <a:ln/>
        </p:spPr>
        <p:txBody>
          <a:bodyPr wrap="square" lIns="0" tIns="0" rIns="0" bIns="0" rtlCol="0" anchor="t"/>
          <a:lstStyle/>
          <a:p>
            <a:pPr indent="0" marL="0">
              <a:buNone/>
            </a:pPr>
            <a:r>
              <a:rPr lang="en-US" sz="1400" b="1" dirty="0">
                <a:solidFill>
                  <a:srgbClr val="E36414"/>
                </a:solidFill>
              </a:rPr>
              <a:t>Project 2  |  Marketing data</a:t>
            </a:r>
            <a:endParaRPr lang="en-US" sz="1400" dirty="0"/>
          </a:p>
        </p:txBody>
      </p:sp>
      <p:sp>
        <p:nvSpPr>
          <p:cNvPr id="13" name="Text 10"/>
          <p:cNvSpPr txBox="1"/>
          <p:nvPr/>
        </p:nvSpPr>
        <p:spPr>
          <a:xfrm>
            <a:off x="6217920" y="4434840"/>
            <a:ext cx="5120640" cy="365760"/>
          </a:xfrm>
          <a:prstGeom prst="rect">
            <a:avLst/>
          </a:prstGeom>
          <a:noFill/>
          <a:ln/>
        </p:spPr>
        <p:txBody>
          <a:bodyPr wrap="square" lIns="0" tIns="0" rIns="0" bIns="0" rtlCol="0" anchor="t"/>
          <a:lstStyle/>
          <a:p>
            <a:pPr indent="0" marL="0">
              <a:buNone/>
            </a:pPr>
            <a:r>
              <a:rPr lang="en-US" sz="1600" dirty="0">
                <a:solidFill>
                  <a:srgbClr val="1B2B34"/>
                </a:solidFill>
              </a:rPr>
              <a:t>10,000 customers, 42 columns.</a:t>
            </a:r>
            <a:endParaRPr lang="en-US" sz="1600" dirty="0"/>
          </a:p>
        </p:txBody>
      </p:sp>
      <p:sp>
        <p:nvSpPr>
          <p:cNvPr id="14" name="Text 11"/>
          <p:cNvSpPr txBox="1"/>
          <p:nvPr/>
        </p:nvSpPr>
        <p:spPr>
          <a:xfrm>
            <a:off x="6217920" y="4892040"/>
            <a:ext cx="5120640" cy="64008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Do spending and demographic patterns form distinct groups?</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Two datasets, one question</a:t>
            </a:r>
            <a:endParaRPr lang="en-US" sz="3200" dirty="0"/>
          </a:p>
        </p:txBody>
      </p:sp>
      <p:sp>
        <p:nvSpPr>
          <p:cNvPr id="4" name="Text 1"/>
          <p:cNvSpPr txBox="1"/>
          <p:nvPr/>
        </p:nvSpPr>
        <p:spPr>
          <a:xfrm>
            <a:off x="2560320" y="1280160"/>
            <a:ext cx="3383280" cy="640080"/>
          </a:xfrm>
          <a:prstGeom prst="rect">
            <a:avLst/>
          </a:prstGeom>
          <a:noFill/>
          <a:ln/>
        </p:spPr>
        <p:txBody>
          <a:bodyPr wrap="square" lIns="0" tIns="0" rIns="0" bIns="0" rtlCol="0" anchor="t"/>
          <a:lstStyle/>
          <a:p>
            <a:pPr algn="l" indent="0" marL="0">
              <a:buNone/>
            </a:pPr>
            <a:r>
              <a:rPr lang="en-US" sz="4000" b="1" dirty="0">
                <a:solidFill>
                  <a:srgbClr val="E36414"/>
                </a:solidFill>
                <a:latin typeface="Cambria" pitchFamily="34" charset="0"/>
                <a:ea typeface="Cambria" pitchFamily="34" charset="-122"/>
                <a:cs typeface="Cambria" pitchFamily="34" charset="-120"/>
              </a:rPr>
              <a:t>180 x 13</a:t>
            </a:r>
            <a:endParaRPr lang="en-US" sz="4000" dirty="0"/>
          </a:p>
        </p:txBody>
      </p:sp>
      <p:sp>
        <p:nvSpPr>
          <p:cNvPr id="5" name="Text 2"/>
          <p:cNvSpPr txBox="1"/>
          <p:nvPr/>
        </p:nvSpPr>
        <p:spPr>
          <a:xfrm>
            <a:off x="2560320" y="1920240"/>
            <a:ext cx="3383280" cy="274320"/>
          </a:xfrm>
          <a:prstGeom prst="rect">
            <a:avLst/>
          </a:prstGeom>
          <a:noFill/>
          <a:ln/>
        </p:spPr>
        <p:txBody>
          <a:bodyPr wrap="square" lIns="0" tIns="0" rIns="0" bIns="0" rtlCol="0" anchor="t"/>
          <a:lstStyle/>
          <a:p>
            <a:pPr indent="0" marL="0">
              <a:buNone/>
            </a:pPr>
            <a:r>
              <a:rPr lang="en-US" sz="1400" dirty="0">
                <a:solidFill>
                  <a:srgbClr val="5B6B73"/>
                </a:solidFill>
              </a:rPr>
              <a:t>Churn dataset</a:t>
            </a:r>
            <a:endParaRPr lang="en-US" sz="1400" dirty="0"/>
          </a:p>
        </p:txBody>
      </p:sp>
      <p:sp>
        <p:nvSpPr>
          <p:cNvPr id="6" name="Text 3"/>
          <p:cNvSpPr txBox="1"/>
          <p:nvPr/>
        </p:nvSpPr>
        <p:spPr>
          <a:xfrm>
            <a:off x="8412480" y="1280160"/>
            <a:ext cx="3383280" cy="640080"/>
          </a:xfrm>
          <a:prstGeom prst="rect">
            <a:avLst/>
          </a:prstGeom>
          <a:noFill/>
          <a:ln/>
        </p:spPr>
        <p:txBody>
          <a:bodyPr wrap="square" lIns="0" tIns="0" rIns="0" bIns="0" rtlCol="0" anchor="t"/>
          <a:lstStyle/>
          <a:p>
            <a:pPr algn="l" indent="0" marL="0">
              <a:buNone/>
            </a:pPr>
            <a:r>
              <a:rPr lang="en-US" sz="4000" b="1" dirty="0">
                <a:solidFill>
                  <a:srgbClr val="E36414"/>
                </a:solidFill>
                <a:latin typeface="Cambria" pitchFamily="34" charset="0"/>
                <a:ea typeface="Cambria" pitchFamily="34" charset="-122"/>
                <a:cs typeface="Cambria" pitchFamily="34" charset="-120"/>
              </a:rPr>
              <a:t>10,000 x 42</a:t>
            </a:r>
            <a:endParaRPr lang="en-US" sz="4000" dirty="0"/>
          </a:p>
        </p:txBody>
      </p:sp>
      <p:sp>
        <p:nvSpPr>
          <p:cNvPr id="7" name="Text 4"/>
          <p:cNvSpPr txBox="1"/>
          <p:nvPr/>
        </p:nvSpPr>
        <p:spPr>
          <a:xfrm>
            <a:off x="8412480" y="1920240"/>
            <a:ext cx="3383280" cy="274320"/>
          </a:xfrm>
          <a:prstGeom prst="rect">
            <a:avLst/>
          </a:prstGeom>
          <a:noFill/>
          <a:ln/>
        </p:spPr>
        <p:txBody>
          <a:bodyPr wrap="square" lIns="0" tIns="0" rIns="0" bIns="0" rtlCol="0" anchor="t"/>
          <a:lstStyle/>
          <a:p>
            <a:pPr indent="0" marL="0">
              <a:buNone/>
            </a:pPr>
            <a:r>
              <a:rPr lang="en-US" sz="1400" dirty="0">
                <a:solidFill>
                  <a:srgbClr val="5B6B73"/>
                </a:solidFill>
              </a:rPr>
              <a:t>Marketing dataset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1463040"/>
                <a:gridCol w="4800600"/>
                <a:gridCol w="4800600"/>
              </a:tblGrid>
              <a:tr h="365760">
                <a:tc>
                  <a:txBody>
                    <a:bodyPr/>
                    <a:lstStyle/>
                    <a:p>
                      <a:pPr algn="l" indent="0" marL="0">
                        <a:buNone/>
                      </a:pP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Churn dataset</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Marketing dataset</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r>
              <a:tr h="50292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184 rows, 4 duplicates removed, 180 left</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10,000 customers, 42 columns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Features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Age, income, tenure, monthly charges, support calls, data usage, satisfaction, contract, payment, region, plan</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Spending by product, purchase channels, campaign responses, income, age, family size, membership tier, device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Churn (Yes / No), kept out of clustering</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None. Fully unlabelled</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Data quality</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Messy: missing values, "?" entries, mixed spellings, impossible values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Clean: 0 missing values, but 5 negative incomes and 52 income outliers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Cleaning came before any modelling</a:t>
            </a:r>
            <a:endParaRPr lang="en-US" sz="3200" dirty="0"/>
          </a:p>
        </p:txBody>
      </p:sp>
      <p:sp>
        <p:nvSpPr>
          <p:cNvPr id="4" name="Text 1"/>
          <p:cNvSpPr txBox="1"/>
          <p:nvPr/>
        </p:nvSpPr>
        <p:spPr>
          <a:xfrm>
            <a:off x="548640" y="1463040"/>
            <a:ext cx="1463040" cy="1645920"/>
          </a:xfrm>
          <a:prstGeom prst="rect">
            <a:avLst/>
          </a:prstGeom>
          <a:noFill/>
          <a:ln/>
        </p:spPr>
        <p:txBody>
          <a:bodyPr wrap="square" lIns="0" tIns="0" rIns="0" bIns="0" rtlCol="0" anchor="ctr"/>
          <a:lstStyle/>
          <a:p>
            <a:pPr indent="0" marL="0">
              <a:buNone/>
            </a:pPr>
            <a:r>
              <a:rPr lang="en-US" sz="1800" b="1" dirty="0">
                <a:solidFill>
                  <a:srgbClr val="0F4C5C"/>
                </a:solidFill>
                <a:latin typeface="Cambria" pitchFamily="34" charset="0"/>
                <a:ea typeface="Cambria" pitchFamily="34" charset="-122"/>
                <a:cs typeface="Cambria" pitchFamily="34" charset="-120"/>
              </a:rPr>
              <a:t>Churn data</a:t>
            </a:r>
            <a:endParaRPr lang="en-US" sz="1800" dirty="0"/>
          </a:p>
        </p:txBody>
      </p:sp>
      <p:sp>
        <p:nvSpPr>
          <p:cNvPr id="5" name="card"/>
          <p:cNvSpPr/>
          <p:nvPr/>
        </p:nvSpPr>
        <p:spPr>
          <a:xfrm>
            <a:off x="2103120" y="1463040"/>
            <a:ext cx="1691640" cy="1645920"/>
          </a:xfrm>
          <a:prstGeom prst="roundRect">
            <a:avLst>
              <a:gd name="adj" fmla="val 4444"/>
            </a:avLst>
          </a:prstGeom>
          <a:solidFill>
            <a:srgbClr val="FFFFFF"/>
          </a:solidFill>
          <a:ln w="9525">
            <a:solidFill>
              <a:srgbClr val="D5DEDC"/>
            </a:solidFill>
            <a:prstDash val="solid"/>
          </a:ln>
        </p:spPr>
      </p:sp>
      <p:sp>
        <p:nvSpPr>
          <p:cNvPr id="6" name="Text 3"/>
          <p:cNvSpPr txBox="1"/>
          <p:nvPr/>
        </p:nvSpPr>
        <p:spPr>
          <a:xfrm>
            <a:off x="2240280" y="1554480"/>
            <a:ext cx="365760" cy="274320"/>
          </a:xfrm>
          <a:prstGeom prst="rect">
            <a:avLst/>
          </a:prstGeom>
          <a:noFill/>
          <a:ln/>
        </p:spPr>
        <p:txBody>
          <a:bodyPr wrap="square" lIns="0" tIns="0" rIns="0" bIns="0" rtlCol="0" anchor="t"/>
          <a:lstStyle/>
          <a:p>
            <a:pPr indent="0" marL="0">
              <a:buNone/>
            </a:pPr>
            <a:r>
              <a:rPr lang="en-US" sz="1200" b="1" dirty="0">
                <a:solidFill>
                  <a:srgbClr val="E36414"/>
                </a:solidFill>
              </a:rPr>
              <a:t>1</a:t>
            </a:r>
            <a:endParaRPr lang="en-US" sz="1200" dirty="0"/>
          </a:p>
        </p:txBody>
      </p:sp>
      <p:sp>
        <p:nvSpPr>
          <p:cNvPr id="7" name="Text 4"/>
          <p:cNvSpPr txBox="1"/>
          <p:nvPr/>
        </p:nvSpPr>
        <p:spPr>
          <a:xfrm>
            <a:off x="2240280" y="182880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Remove duplicates</a:t>
            </a:r>
            <a:endParaRPr lang="en-US" sz="1400" dirty="0"/>
          </a:p>
        </p:txBody>
      </p:sp>
      <p:sp>
        <p:nvSpPr>
          <p:cNvPr id="8" name="Text 5"/>
          <p:cNvSpPr txBox="1"/>
          <p:nvPr/>
        </p:nvSpPr>
        <p:spPr>
          <a:xfrm>
            <a:off x="2240280" y="2148840"/>
            <a:ext cx="1463040" cy="868680"/>
          </a:xfrm>
          <a:prstGeom prst="rect">
            <a:avLst/>
          </a:prstGeom>
          <a:noFill/>
          <a:ln/>
        </p:spPr>
        <p:txBody>
          <a:bodyPr wrap="square" lIns="0" tIns="0" rIns="0" bIns="0" rtlCol="0" anchor="t"/>
          <a:lstStyle/>
          <a:p>
            <a:pPr indent="0" marL="0">
              <a:buNone/>
            </a:pPr>
            <a:r>
              <a:rPr lang="en-US" sz="1300" dirty="0">
                <a:solidFill>
                  <a:srgbClr val="1B2B34"/>
                </a:solidFill>
              </a:rPr>
              <a:t>184 to 180 rows</a:t>
            </a:r>
            <a:endParaRPr lang="en-US" sz="1300" dirty="0"/>
          </a:p>
        </p:txBody>
      </p:sp>
      <p:sp>
        <p:nvSpPr>
          <p:cNvPr id="9" name="arrow"/>
          <p:cNvSpPr/>
          <p:nvPr/>
        </p:nvSpPr>
        <p:spPr>
          <a:xfrm>
            <a:off x="3822192" y="2194560"/>
            <a:ext cx="219456" cy="182880"/>
          </a:xfrm>
          <a:prstGeom prst="rightArrow">
            <a:avLst/>
          </a:prstGeom>
          <a:solidFill>
            <a:srgbClr val="E36414"/>
          </a:solidFill>
          <a:ln/>
        </p:spPr>
      </p:sp>
      <p:sp>
        <p:nvSpPr>
          <p:cNvPr id="10" name="card"/>
          <p:cNvSpPr/>
          <p:nvPr/>
        </p:nvSpPr>
        <p:spPr>
          <a:xfrm>
            <a:off x="4069080" y="1463040"/>
            <a:ext cx="1691640" cy="1645920"/>
          </a:xfrm>
          <a:prstGeom prst="roundRect">
            <a:avLst>
              <a:gd name="adj" fmla="val 4444"/>
            </a:avLst>
          </a:prstGeom>
          <a:solidFill>
            <a:srgbClr val="FFFFFF"/>
          </a:solidFill>
          <a:ln w="9525">
            <a:solidFill>
              <a:srgbClr val="D5DEDC"/>
            </a:solidFill>
            <a:prstDash val="solid"/>
          </a:ln>
        </p:spPr>
      </p:sp>
      <p:sp>
        <p:nvSpPr>
          <p:cNvPr id="11" name="Text 8"/>
          <p:cNvSpPr txBox="1"/>
          <p:nvPr/>
        </p:nvSpPr>
        <p:spPr>
          <a:xfrm>
            <a:off x="4206240" y="1554480"/>
            <a:ext cx="365760" cy="274320"/>
          </a:xfrm>
          <a:prstGeom prst="rect">
            <a:avLst/>
          </a:prstGeom>
          <a:noFill/>
          <a:ln/>
        </p:spPr>
        <p:txBody>
          <a:bodyPr wrap="square" lIns="0" tIns="0" rIns="0" bIns="0" rtlCol="0" anchor="t"/>
          <a:lstStyle/>
          <a:p>
            <a:pPr indent="0" marL="0">
              <a:buNone/>
            </a:pPr>
            <a:r>
              <a:rPr lang="en-US" sz="1200" b="1" dirty="0">
                <a:solidFill>
                  <a:srgbClr val="E36414"/>
                </a:solidFill>
              </a:rPr>
              <a:t>2</a:t>
            </a:r>
            <a:endParaRPr lang="en-US" sz="1200" dirty="0"/>
          </a:p>
        </p:txBody>
      </p:sp>
      <p:sp>
        <p:nvSpPr>
          <p:cNvPr id="12" name="Text 9"/>
          <p:cNvSpPr txBox="1"/>
          <p:nvPr/>
        </p:nvSpPr>
        <p:spPr>
          <a:xfrm>
            <a:off x="4206240" y="182880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Fix text labels</a:t>
            </a:r>
            <a:endParaRPr lang="en-US" sz="1400" dirty="0"/>
          </a:p>
        </p:txBody>
      </p:sp>
      <p:sp>
        <p:nvSpPr>
          <p:cNvPr id="13" name="Text 10"/>
          <p:cNvSpPr txBox="1"/>
          <p:nvPr/>
        </p:nvSpPr>
        <p:spPr>
          <a:xfrm>
            <a:off x="4206240" y="2148840"/>
            <a:ext cx="1463040" cy="868680"/>
          </a:xfrm>
          <a:prstGeom prst="rect">
            <a:avLst/>
          </a:prstGeom>
          <a:noFill/>
          <a:ln/>
        </p:spPr>
        <p:txBody>
          <a:bodyPr wrap="square" lIns="0" tIns="0" rIns="0" bIns="0" rtlCol="0" anchor="t"/>
          <a:lstStyle/>
          <a:p>
            <a:pPr indent="0" marL="0">
              <a:buNone/>
            </a:pPr>
            <a:r>
              <a:rPr lang="en-US" sz="1300" dirty="0">
                <a:solidFill>
                  <a:srgbClr val="1B2B34"/>
                </a:solidFill>
              </a:rPr>
              <a:t>8 spellings of contract type become 3</a:t>
            </a:r>
            <a:endParaRPr lang="en-US" sz="1300" dirty="0"/>
          </a:p>
        </p:txBody>
      </p:sp>
      <p:sp>
        <p:nvSpPr>
          <p:cNvPr id="14" name="arrow"/>
          <p:cNvSpPr/>
          <p:nvPr/>
        </p:nvSpPr>
        <p:spPr>
          <a:xfrm>
            <a:off x="5788152" y="2194560"/>
            <a:ext cx="219456" cy="182880"/>
          </a:xfrm>
          <a:prstGeom prst="rightArrow">
            <a:avLst/>
          </a:prstGeom>
          <a:solidFill>
            <a:srgbClr val="E36414"/>
          </a:solidFill>
          <a:ln/>
        </p:spPr>
      </p:sp>
      <p:sp>
        <p:nvSpPr>
          <p:cNvPr id="15" name="card"/>
          <p:cNvSpPr/>
          <p:nvPr/>
        </p:nvSpPr>
        <p:spPr>
          <a:xfrm>
            <a:off x="6035040" y="1463040"/>
            <a:ext cx="1691640" cy="1645920"/>
          </a:xfrm>
          <a:prstGeom prst="roundRect">
            <a:avLst>
              <a:gd name="adj" fmla="val 4444"/>
            </a:avLst>
          </a:prstGeom>
          <a:solidFill>
            <a:srgbClr val="FFFFFF"/>
          </a:solidFill>
          <a:ln w="9525">
            <a:solidFill>
              <a:srgbClr val="D5DEDC"/>
            </a:solidFill>
            <a:prstDash val="solid"/>
          </a:ln>
        </p:spPr>
      </p:sp>
      <p:sp>
        <p:nvSpPr>
          <p:cNvPr id="16" name="Text 13"/>
          <p:cNvSpPr txBox="1"/>
          <p:nvPr/>
        </p:nvSpPr>
        <p:spPr>
          <a:xfrm>
            <a:off x="6172200" y="1554480"/>
            <a:ext cx="365760" cy="274320"/>
          </a:xfrm>
          <a:prstGeom prst="rect">
            <a:avLst/>
          </a:prstGeom>
          <a:noFill/>
          <a:ln/>
        </p:spPr>
        <p:txBody>
          <a:bodyPr wrap="square" lIns="0" tIns="0" rIns="0" bIns="0" rtlCol="0" anchor="t"/>
          <a:lstStyle/>
          <a:p>
            <a:pPr indent="0" marL="0">
              <a:buNone/>
            </a:pPr>
            <a:r>
              <a:rPr lang="en-US" sz="1200" b="1" dirty="0">
                <a:solidFill>
                  <a:srgbClr val="E36414"/>
                </a:solidFill>
              </a:rPr>
              <a:t>3</a:t>
            </a:r>
            <a:endParaRPr lang="en-US" sz="1200" dirty="0"/>
          </a:p>
        </p:txBody>
      </p:sp>
      <p:sp>
        <p:nvSpPr>
          <p:cNvPr id="17" name="Text 14"/>
          <p:cNvSpPr txBox="1"/>
          <p:nvPr/>
        </p:nvSpPr>
        <p:spPr>
          <a:xfrm>
            <a:off x="6172200" y="182880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Fix bad values</a:t>
            </a:r>
            <a:endParaRPr lang="en-US" sz="1400" dirty="0"/>
          </a:p>
        </p:txBody>
      </p:sp>
      <p:sp>
        <p:nvSpPr>
          <p:cNvPr id="18" name="Text 15"/>
          <p:cNvSpPr txBox="1"/>
          <p:nvPr/>
        </p:nvSpPr>
        <p:spPr>
          <a:xfrm>
            <a:off x="6172200" y="2148840"/>
            <a:ext cx="1463040" cy="868680"/>
          </a:xfrm>
          <a:prstGeom prst="rect">
            <a:avLst/>
          </a:prstGeom>
          <a:noFill/>
          <a:ln/>
        </p:spPr>
        <p:txBody>
          <a:bodyPr wrap="square" lIns="0" tIns="0" rIns="0" bIns="0" rtlCol="0" anchor="t"/>
          <a:lstStyle/>
          <a:p>
            <a:pPr indent="0" marL="0">
              <a:buNone/>
            </a:pPr>
            <a:r>
              <a:rPr lang="en-US" sz="1300" dirty="0">
                <a:solidFill>
                  <a:srgbClr val="1B2B34"/>
                </a:solidFill>
              </a:rPr>
              <a:t>Age -5 or 145, charge 999 replaced with median</a:t>
            </a:r>
            <a:endParaRPr lang="en-US" sz="1300" dirty="0"/>
          </a:p>
        </p:txBody>
      </p:sp>
      <p:sp>
        <p:nvSpPr>
          <p:cNvPr id="19" name="arrow"/>
          <p:cNvSpPr/>
          <p:nvPr/>
        </p:nvSpPr>
        <p:spPr>
          <a:xfrm>
            <a:off x="7754112" y="2194560"/>
            <a:ext cx="219456" cy="182880"/>
          </a:xfrm>
          <a:prstGeom prst="rightArrow">
            <a:avLst/>
          </a:prstGeom>
          <a:solidFill>
            <a:srgbClr val="E36414"/>
          </a:solidFill>
          <a:ln/>
        </p:spPr>
      </p:sp>
      <p:sp>
        <p:nvSpPr>
          <p:cNvPr id="20" name="card"/>
          <p:cNvSpPr/>
          <p:nvPr/>
        </p:nvSpPr>
        <p:spPr>
          <a:xfrm>
            <a:off x="8001000" y="1463040"/>
            <a:ext cx="1691640" cy="1645920"/>
          </a:xfrm>
          <a:prstGeom prst="roundRect">
            <a:avLst>
              <a:gd name="adj" fmla="val 4444"/>
            </a:avLst>
          </a:prstGeom>
          <a:solidFill>
            <a:srgbClr val="FFFFFF"/>
          </a:solidFill>
          <a:ln w="9525">
            <a:solidFill>
              <a:srgbClr val="D5DEDC"/>
            </a:solidFill>
            <a:prstDash val="solid"/>
          </a:ln>
        </p:spPr>
      </p:sp>
      <p:sp>
        <p:nvSpPr>
          <p:cNvPr id="21" name="Text 18"/>
          <p:cNvSpPr txBox="1"/>
          <p:nvPr/>
        </p:nvSpPr>
        <p:spPr>
          <a:xfrm>
            <a:off x="8138160" y="1554480"/>
            <a:ext cx="365760" cy="274320"/>
          </a:xfrm>
          <a:prstGeom prst="rect">
            <a:avLst/>
          </a:prstGeom>
          <a:noFill/>
          <a:ln/>
        </p:spPr>
        <p:txBody>
          <a:bodyPr wrap="square" lIns="0" tIns="0" rIns="0" bIns="0" rtlCol="0" anchor="t"/>
          <a:lstStyle/>
          <a:p>
            <a:pPr indent="0" marL="0">
              <a:buNone/>
            </a:pPr>
            <a:r>
              <a:rPr lang="en-US" sz="1200" b="1" dirty="0">
                <a:solidFill>
                  <a:srgbClr val="E36414"/>
                </a:solidFill>
              </a:rPr>
              <a:t>4</a:t>
            </a:r>
            <a:endParaRPr lang="en-US" sz="1200" dirty="0"/>
          </a:p>
        </p:txBody>
      </p:sp>
      <p:sp>
        <p:nvSpPr>
          <p:cNvPr id="22" name="Text 19"/>
          <p:cNvSpPr txBox="1"/>
          <p:nvPr/>
        </p:nvSpPr>
        <p:spPr>
          <a:xfrm>
            <a:off x="8138160" y="182880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Cap outliers</a:t>
            </a:r>
            <a:endParaRPr lang="en-US" sz="1400" dirty="0"/>
          </a:p>
        </p:txBody>
      </p:sp>
      <p:sp>
        <p:nvSpPr>
          <p:cNvPr id="23" name="Text 20"/>
          <p:cNvSpPr txBox="1"/>
          <p:nvPr/>
        </p:nvSpPr>
        <p:spPr>
          <a:xfrm>
            <a:off x="8138160" y="2148840"/>
            <a:ext cx="1463040" cy="868680"/>
          </a:xfrm>
          <a:prstGeom prst="rect">
            <a:avLst/>
          </a:prstGeom>
          <a:noFill/>
          <a:ln/>
        </p:spPr>
        <p:txBody>
          <a:bodyPr wrap="square" lIns="0" tIns="0" rIns="0" bIns="0" rtlCol="0" anchor="t"/>
          <a:lstStyle/>
          <a:p>
            <a:pPr indent="0" marL="0">
              <a:buNone/>
            </a:pPr>
            <a:r>
              <a:rPr lang="en-US" sz="1300" dirty="0">
                <a:solidFill>
                  <a:srgbClr val="1B2B34"/>
                </a:solidFill>
              </a:rPr>
              <a:t>IQR capping, no rows lost</a:t>
            </a:r>
            <a:endParaRPr lang="en-US" sz="1300" dirty="0"/>
          </a:p>
        </p:txBody>
      </p:sp>
      <p:sp>
        <p:nvSpPr>
          <p:cNvPr id="24" name="arrow"/>
          <p:cNvSpPr/>
          <p:nvPr/>
        </p:nvSpPr>
        <p:spPr>
          <a:xfrm>
            <a:off x="9720072" y="2194560"/>
            <a:ext cx="219456" cy="182880"/>
          </a:xfrm>
          <a:prstGeom prst="rightArrow">
            <a:avLst/>
          </a:prstGeom>
          <a:solidFill>
            <a:srgbClr val="E36414"/>
          </a:solidFill>
          <a:ln/>
        </p:spPr>
      </p:sp>
      <p:sp>
        <p:nvSpPr>
          <p:cNvPr id="25" name="card"/>
          <p:cNvSpPr/>
          <p:nvPr/>
        </p:nvSpPr>
        <p:spPr>
          <a:xfrm>
            <a:off x="9966960" y="1463040"/>
            <a:ext cx="1691640" cy="1645920"/>
          </a:xfrm>
          <a:prstGeom prst="roundRect">
            <a:avLst>
              <a:gd name="adj" fmla="val 4444"/>
            </a:avLst>
          </a:prstGeom>
          <a:solidFill>
            <a:srgbClr val="FFFFFF"/>
          </a:solidFill>
          <a:ln w="9525">
            <a:solidFill>
              <a:srgbClr val="D5DEDC"/>
            </a:solidFill>
            <a:prstDash val="solid"/>
          </a:ln>
        </p:spPr>
      </p:sp>
      <p:sp>
        <p:nvSpPr>
          <p:cNvPr id="26" name="Text 23"/>
          <p:cNvSpPr txBox="1"/>
          <p:nvPr/>
        </p:nvSpPr>
        <p:spPr>
          <a:xfrm>
            <a:off x="10104120" y="1554480"/>
            <a:ext cx="365760" cy="274320"/>
          </a:xfrm>
          <a:prstGeom prst="rect">
            <a:avLst/>
          </a:prstGeom>
          <a:noFill/>
          <a:ln/>
        </p:spPr>
        <p:txBody>
          <a:bodyPr wrap="square" lIns="0" tIns="0" rIns="0" bIns="0" rtlCol="0" anchor="t"/>
          <a:lstStyle/>
          <a:p>
            <a:pPr indent="0" marL="0">
              <a:buNone/>
            </a:pPr>
            <a:r>
              <a:rPr lang="en-US" sz="1200" b="1" dirty="0">
                <a:solidFill>
                  <a:srgbClr val="E36414"/>
                </a:solidFill>
              </a:rPr>
              <a:t>5</a:t>
            </a:r>
            <a:endParaRPr lang="en-US" sz="1200" dirty="0"/>
          </a:p>
        </p:txBody>
      </p:sp>
      <p:sp>
        <p:nvSpPr>
          <p:cNvPr id="27" name="Text 24"/>
          <p:cNvSpPr txBox="1"/>
          <p:nvPr/>
        </p:nvSpPr>
        <p:spPr>
          <a:xfrm>
            <a:off x="10104120" y="182880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Encode and scale</a:t>
            </a:r>
            <a:endParaRPr lang="en-US" sz="1400" dirty="0"/>
          </a:p>
        </p:txBody>
      </p:sp>
      <p:sp>
        <p:nvSpPr>
          <p:cNvPr id="28" name="Text 25"/>
          <p:cNvSpPr txBox="1"/>
          <p:nvPr/>
        </p:nvSpPr>
        <p:spPr>
          <a:xfrm>
            <a:off x="10104120" y="2148840"/>
            <a:ext cx="1463040" cy="868680"/>
          </a:xfrm>
          <a:prstGeom prst="rect">
            <a:avLst/>
          </a:prstGeom>
          <a:noFill/>
          <a:ln/>
        </p:spPr>
        <p:txBody>
          <a:bodyPr wrap="square" lIns="0" tIns="0" rIns="0" bIns="0" rtlCol="0" anchor="t"/>
          <a:lstStyle/>
          <a:p>
            <a:pPr indent="0" marL="0">
              <a:buNone/>
            </a:pPr>
            <a:r>
              <a:rPr lang="en-US" sz="1300" dirty="0">
                <a:solidFill>
                  <a:srgbClr val="1B2B34"/>
                </a:solidFill>
              </a:rPr>
              <a:t>One-hot, StandardScaler: 22 features</a:t>
            </a:r>
            <a:endParaRPr lang="en-US" sz="1300" dirty="0"/>
          </a:p>
        </p:txBody>
      </p:sp>
      <p:sp>
        <p:nvSpPr>
          <p:cNvPr id="29" name="Text 26"/>
          <p:cNvSpPr txBox="1"/>
          <p:nvPr/>
        </p:nvSpPr>
        <p:spPr>
          <a:xfrm>
            <a:off x="548640" y="3611880"/>
            <a:ext cx="1463040" cy="1645920"/>
          </a:xfrm>
          <a:prstGeom prst="rect">
            <a:avLst/>
          </a:prstGeom>
          <a:noFill/>
          <a:ln/>
        </p:spPr>
        <p:txBody>
          <a:bodyPr wrap="square" lIns="0" tIns="0" rIns="0" bIns="0" rtlCol="0" anchor="ctr"/>
          <a:lstStyle/>
          <a:p>
            <a:pPr indent="0" marL="0">
              <a:buNone/>
            </a:pPr>
            <a:r>
              <a:rPr lang="en-US" sz="1800" b="1" dirty="0">
                <a:solidFill>
                  <a:srgbClr val="0F4C5C"/>
                </a:solidFill>
                <a:latin typeface="Cambria" pitchFamily="34" charset="0"/>
                <a:ea typeface="Cambria" pitchFamily="34" charset="-122"/>
                <a:cs typeface="Cambria" pitchFamily="34" charset="-120"/>
              </a:rPr>
              <a:t>Marketing data</a:t>
            </a:r>
            <a:endParaRPr lang="en-US" sz="1800" dirty="0"/>
          </a:p>
        </p:txBody>
      </p:sp>
      <p:sp>
        <p:nvSpPr>
          <p:cNvPr id="30" name="card"/>
          <p:cNvSpPr/>
          <p:nvPr/>
        </p:nvSpPr>
        <p:spPr>
          <a:xfrm>
            <a:off x="2103120" y="3611880"/>
            <a:ext cx="1691640" cy="1645920"/>
          </a:xfrm>
          <a:prstGeom prst="roundRect">
            <a:avLst>
              <a:gd name="adj" fmla="val 4444"/>
            </a:avLst>
          </a:prstGeom>
          <a:solidFill>
            <a:srgbClr val="FFFFFF"/>
          </a:solidFill>
          <a:ln w="9525">
            <a:solidFill>
              <a:srgbClr val="D5DEDC"/>
            </a:solidFill>
            <a:prstDash val="solid"/>
          </a:ln>
        </p:spPr>
      </p:sp>
      <p:sp>
        <p:nvSpPr>
          <p:cNvPr id="31" name="Text 28"/>
          <p:cNvSpPr txBox="1"/>
          <p:nvPr/>
        </p:nvSpPr>
        <p:spPr>
          <a:xfrm>
            <a:off x="2240280" y="3703320"/>
            <a:ext cx="365760" cy="274320"/>
          </a:xfrm>
          <a:prstGeom prst="rect">
            <a:avLst/>
          </a:prstGeom>
          <a:noFill/>
          <a:ln/>
        </p:spPr>
        <p:txBody>
          <a:bodyPr wrap="square" lIns="0" tIns="0" rIns="0" bIns="0" rtlCol="0" anchor="t"/>
          <a:lstStyle/>
          <a:p>
            <a:pPr indent="0" marL="0">
              <a:buNone/>
            </a:pPr>
            <a:r>
              <a:rPr lang="en-US" sz="1200" b="1" dirty="0">
                <a:solidFill>
                  <a:srgbClr val="E36414"/>
                </a:solidFill>
              </a:rPr>
              <a:t>1</a:t>
            </a:r>
            <a:endParaRPr lang="en-US" sz="1200" dirty="0"/>
          </a:p>
        </p:txBody>
      </p:sp>
      <p:sp>
        <p:nvSpPr>
          <p:cNvPr id="32" name="Text 29"/>
          <p:cNvSpPr txBox="1"/>
          <p:nvPr/>
        </p:nvSpPr>
        <p:spPr>
          <a:xfrm>
            <a:off x="2240280" y="397764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Fix bad income</a:t>
            </a:r>
            <a:endParaRPr lang="en-US" sz="1400" dirty="0"/>
          </a:p>
        </p:txBody>
      </p:sp>
      <p:sp>
        <p:nvSpPr>
          <p:cNvPr id="33" name="Text 30"/>
          <p:cNvSpPr txBox="1"/>
          <p:nvPr/>
        </p:nvSpPr>
        <p:spPr>
          <a:xfrm>
            <a:off x="2240280" y="4297680"/>
            <a:ext cx="1463040" cy="868680"/>
          </a:xfrm>
          <a:prstGeom prst="rect">
            <a:avLst/>
          </a:prstGeom>
          <a:noFill/>
          <a:ln/>
        </p:spPr>
        <p:txBody>
          <a:bodyPr wrap="square" lIns="0" tIns="0" rIns="0" bIns="0" rtlCol="0" anchor="t"/>
          <a:lstStyle/>
          <a:p>
            <a:pPr indent="0" marL="0">
              <a:buNone/>
            </a:pPr>
            <a:r>
              <a:rPr lang="en-US" sz="1300" dirty="0">
                <a:solidFill>
                  <a:srgbClr val="1B2B34"/>
                </a:solidFill>
              </a:rPr>
              <a:t>5 negatives replaced with median</a:t>
            </a:r>
            <a:endParaRPr lang="en-US" sz="1300" dirty="0"/>
          </a:p>
        </p:txBody>
      </p:sp>
      <p:sp>
        <p:nvSpPr>
          <p:cNvPr id="34" name="arrow"/>
          <p:cNvSpPr/>
          <p:nvPr/>
        </p:nvSpPr>
        <p:spPr>
          <a:xfrm>
            <a:off x="3822192" y="4343400"/>
            <a:ext cx="219456" cy="182880"/>
          </a:xfrm>
          <a:prstGeom prst="rightArrow">
            <a:avLst/>
          </a:prstGeom>
          <a:solidFill>
            <a:srgbClr val="E36414"/>
          </a:solidFill>
          <a:ln/>
        </p:spPr>
      </p:sp>
      <p:sp>
        <p:nvSpPr>
          <p:cNvPr id="35" name="card"/>
          <p:cNvSpPr/>
          <p:nvPr/>
        </p:nvSpPr>
        <p:spPr>
          <a:xfrm>
            <a:off x="4069080" y="3611880"/>
            <a:ext cx="1691640" cy="1645920"/>
          </a:xfrm>
          <a:prstGeom prst="roundRect">
            <a:avLst>
              <a:gd name="adj" fmla="val 4444"/>
            </a:avLst>
          </a:prstGeom>
          <a:solidFill>
            <a:srgbClr val="FFFFFF"/>
          </a:solidFill>
          <a:ln w="9525">
            <a:solidFill>
              <a:srgbClr val="D5DEDC"/>
            </a:solidFill>
            <a:prstDash val="solid"/>
          </a:ln>
        </p:spPr>
      </p:sp>
      <p:sp>
        <p:nvSpPr>
          <p:cNvPr id="36" name="Text 33"/>
          <p:cNvSpPr txBox="1"/>
          <p:nvPr/>
        </p:nvSpPr>
        <p:spPr>
          <a:xfrm>
            <a:off x="4206240" y="3703320"/>
            <a:ext cx="365760" cy="274320"/>
          </a:xfrm>
          <a:prstGeom prst="rect">
            <a:avLst/>
          </a:prstGeom>
          <a:noFill/>
          <a:ln/>
        </p:spPr>
        <p:txBody>
          <a:bodyPr wrap="square" lIns="0" tIns="0" rIns="0" bIns="0" rtlCol="0" anchor="t"/>
          <a:lstStyle/>
          <a:p>
            <a:pPr indent="0" marL="0">
              <a:buNone/>
            </a:pPr>
            <a:r>
              <a:rPr lang="en-US" sz="1200" b="1" dirty="0">
                <a:solidFill>
                  <a:srgbClr val="E36414"/>
                </a:solidFill>
              </a:rPr>
              <a:t>2</a:t>
            </a:r>
            <a:endParaRPr lang="en-US" sz="1200" dirty="0"/>
          </a:p>
        </p:txBody>
      </p:sp>
      <p:sp>
        <p:nvSpPr>
          <p:cNvPr id="37" name="Text 34"/>
          <p:cNvSpPr txBox="1"/>
          <p:nvPr/>
        </p:nvSpPr>
        <p:spPr>
          <a:xfrm>
            <a:off x="4206240" y="397764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Cap outliers</a:t>
            </a:r>
            <a:endParaRPr lang="en-US" sz="1400" dirty="0"/>
          </a:p>
        </p:txBody>
      </p:sp>
      <p:sp>
        <p:nvSpPr>
          <p:cNvPr id="38" name="Text 35"/>
          <p:cNvSpPr txBox="1"/>
          <p:nvPr/>
        </p:nvSpPr>
        <p:spPr>
          <a:xfrm>
            <a:off x="4206240" y="4297680"/>
            <a:ext cx="1463040" cy="868680"/>
          </a:xfrm>
          <a:prstGeom prst="rect">
            <a:avLst/>
          </a:prstGeom>
          <a:noFill/>
          <a:ln/>
        </p:spPr>
        <p:txBody>
          <a:bodyPr wrap="square" lIns="0" tIns="0" rIns="0" bIns="0" rtlCol="0" anchor="t"/>
          <a:lstStyle/>
          <a:p>
            <a:pPr indent="0" marL="0">
              <a:buNone/>
            </a:pPr>
            <a:r>
              <a:rPr lang="en-US" sz="1300" dirty="0">
                <a:solidFill>
                  <a:srgbClr val="1B2B34"/>
                </a:solidFill>
              </a:rPr>
              <a:t>52 income outliers capped at IQR limits</a:t>
            </a:r>
            <a:endParaRPr lang="en-US" sz="1300" dirty="0"/>
          </a:p>
        </p:txBody>
      </p:sp>
      <p:sp>
        <p:nvSpPr>
          <p:cNvPr id="39" name="arrow"/>
          <p:cNvSpPr/>
          <p:nvPr/>
        </p:nvSpPr>
        <p:spPr>
          <a:xfrm>
            <a:off x="5788152" y="4343400"/>
            <a:ext cx="219456" cy="182880"/>
          </a:xfrm>
          <a:prstGeom prst="rightArrow">
            <a:avLst/>
          </a:prstGeom>
          <a:solidFill>
            <a:srgbClr val="E36414"/>
          </a:solidFill>
          <a:ln/>
        </p:spPr>
      </p:sp>
      <p:sp>
        <p:nvSpPr>
          <p:cNvPr id="40" name="card"/>
          <p:cNvSpPr/>
          <p:nvPr/>
        </p:nvSpPr>
        <p:spPr>
          <a:xfrm>
            <a:off x="6035040" y="3611880"/>
            <a:ext cx="1691640" cy="1645920"/>
          </a:xfrm>
          <a:prstGeom prst="roundRect">
            <a:avLst>
              <a:gd name="adj" fmla="val 4444"/>
            </a:avLst>
          </a:prstGeom>
          <a:solidFill>
            <a:srgbClr val="FFFFFF"/>
          </a:solidFill>
          <a:ln w="9525">
            <a:solidFill>
              <a:srgbClr val="D5DEDC"/>
            </a:solidFill>
            <a:prstDash val="solid"/>
          </a:ln>
        </p:spPr>
      </p:sp>
      <p:sp>
        <p:nvSpPr>
          <p:cNvPr id="41" name="Text 38"/>
          <p:cNvSpPr txBox="1"/>
          <p:nvPr/>
        </p:nvSpPr>
        <p:spPr>
          <a:xfrm>
            <a:off x="6172200" y="3703320"/>
            <a:ext cx="365760" cy="274320"/>
          </a:xfrm>
          <a:prstGeom prst="rect">
            <a:avLst/>
          </a:prstGeom>
          <a:noFill/>
          <a:ln/>
        </p:spPr>
        <p:txBody>
          <a:bodyPr wrap="square" lIns="0" tIns="0" rIns="0" bIns="0" rtlCol="0" anchor="t"/>
          <a:lstStyle/>
          <a:p>
            <a:pPr indent="0" marL="0">
              <a:buNone/>
            </a:pPr>
            <a:r>
              <a:rPr lang="en-US" sz="1200" b="1" dirty="0">
                <a:solidFill>
                  <a:srgbClr val="E36414"/>
                </a:solidFill>
              </a:rPr>
              <a:t>3</a:t>
            </a:r>
            <a:endParaRPr lang="en-US" sz="1200" dirty="0"/>
          </a:p>
        </p:txBody>
      </p:sp>
      <p:sp>
        <p:nvSpPr>
          <p:cNvPr id="42" name="Text 39"/>
          <p:cNvSpPr txBox="1"/>
          <p:nvPr/>
        </p:nvSpPr>
        <p:spPr>
          <a:xfrm>
            <a:off x="6172200" y="397764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Date features</a:t>
            </a:r>
            <a:endParaRPr lang="en-US" sz="1400" dirty="0"/>
          </a:p>
        </p:txBody>
      </p:sp>
      <p:sp>
        <p:nvSpPr>
          <p:cNvPr id="43" name="Text 40"/>
          <p:cNvSpPr txBox="1"/>
          <p:nvPr/>
        </p:nvSpPr>
        <p:spPr>
          <a:xfrm>
            <a:off x="6172200" y="4297680"/>
            <a:ext cx="1463040" cy="868680"/>
          </a:xfrm>
          <a:prstGeom prst="rect">
            <a:avLst/>
          </a:prstGeom>
          <a:noFill/>
          <a:ln/>
        </p:spPr>
        <p:txBody>
          <a:bodyPr wrap="square" lIns="0" tIns="0" rIns="0" bIns="0" rtlCol="0" anchor="t"/>
          <a:lstStyle/>
          <a:p>
            <a:pPr indent="0" marL="0">
              <a:buNone/>
            </a:pPr>
            <a:r>
              <a:rPr lang="en-US" sz="1300" dirty="0">
                <a:solidFill>
                  <a:srgbClr val="1B2B34"/>
                </a:solidFill>
              </a:rPr>
              <a:t>Customer_Since to year and month</a:t>
            </a:r>
            <a:endParaRPr lang="en-US" sz="1300" dirty="0"/>
          </a:p>
        </p:txBody>
      </p:sp>
      <p:sp>
        <p:nvSpPr>
          <p:cNvPr id="44" name="arrow"/>
          <p:cNvSpPr/>
          <p:nvPr/>
        </p:nvSpPr>
        <p:spPr>
          <a:xfrm>
            <a:off x="7754112" y="4343400"/>
            <a:ext cx="219456" cy="182880"/>
          </a:xfrm>
          <a:prstGeom prst="rightArrow">
            <a:avLst/>
          </a:prstGeom>
          <a:solidFill>
            <a:srgbClr val="E36414"/>
          </a:solidFill>
          <a:ln/>
        </p:spPr>
      </p:sp>
      <p:sp>
        <p:nvSpPr>
          <p:cNvPr id="45" name="card"/>
          <p:cNvSpPr/>
          <p:nvPr/>
        </p:nvSpPr>
        <p:spPr>
          <a:xfrm>
            <a:off x="8001000" y="3611880"/>
            <a:ext cx="1691640" cy="1645920"/>
          </a:xfrm>
          <a:prstGeom prst="roundRect">
            <a:avLst>
              <a:gd name="adj" fmla="val 4444"/>
            </a:avLst>
          </a:prstGeom>
          <a:solidFill>
            <a:srgbClr val="FFFFFF"/>
          </a:solidFill>
          <a:ln w="9525">
            <a:solidFill>
              <a:srgbClr val="D5DEDC"/>
            </a:solidFill>
            <a:prstDash val="solid"/>
          </a:ln>
        </p:spPr>
      </p:sp>
      <p:sp>
        <p:nvSpPr>
          <p:cNvPr id="46" name="Text 43"/>
          <p:cNvSpPr txBox="1"/>
          <p:nvPr/>
        </p:nvSpPr>
        <p:spPr>
          <a:xfrm>
            <a:off x="8138160" y="3703320"/>
            <a:ext cx="365760" cy="274320"/>
          </a:xfrm>
          <a:prstGeom prst="rect">
            <a:avLst/>
          </a:prstGeom>
          <a:noFill/>
          <a:ln/>
        </p:spPr>
        <p:txBody>
          <a:bodyPr wrap="square" lIns="0" tIns="0" rIns="0" bIns="0" rtlCol="0" anchor="t"/>
          <a:lstStyle/>
          <a:p>
            <a:pPr indent="0" marL="0">
              <a:buNone/>
            </a:pPr>
            <a:r>
              <a:rPr lang="en-US" sz="1200" b="1" dirty="0">
                <a:solidFill>
                  <a:srgbClr val="E36414"/>
                </a:solidFill>
              </a:rPr>
              <a:t>4</a:t>
            </a:r>
            <a:endParaRPr lang="en-US" sz="1200" dirty="0"/>
          </a:p>
        </p:txBody>
      </p:sp>
      <p:sp>
        <p:nvSpPr>
          <p:cNvPr id="47" name="Text 44"/>
          <p:cNvSpPr txBox="1"/>
          <p:nvPr/>
        </p:nvSpPr>
        <p:spPr>
          <a:xfrm>
            <a:off x="8138160" y="397764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Drop columns</a:t>
            </a:r>
            <a:endParaRPr lang="en-US" sz="1400" dirty="0"/>
          </a:p>
        </p:txBody>
      </p:sp>
      <p:sp>
        <p:nvSpPr>
          <p:cNvPr id="48" name="Text 45"/>
          <p:cNvSpPr txBox="1"/>
          <p:nvPr/>
        </p:nvSpPr>
        <p:spPr>
          <a:xfrm>
            <a:off x="8138160" y="4297680"/>
            <a:ext cx="1463040" cy="868680"/>
          </a:xfrm>
          <a:prstGeom prst="rect">
            <a:avLst/>
          </a:prstGeom>
          <a:noFill/>
          <a:ln/>
        </p:spPr>
        <p:txBody>
          <a:bodyPr wrap="square" lIns="0" tIns="0" rIns="0" bIns="0" rtlCol="0" anchor="t"/>
          <a:lstStyle/>
          <a:p>
            <a:pPr indent="0" marL="0">
              <a:buNone/>
            </a:pPr>
            <a:r>
              <a:rPr lang="en-US" sz="1300" dirty="0">
                <a:solidFill>
                  <a:srgbClr val="1B2B34"/>
                </a:solidFill>
              </a:rPr>
              <a:t>ID, join date, birth year, 2 constant columns</a:t>
            </a:r>
            <a:endParaRPr lang="en-US" sz="1300" dirty="0"/>
          </a:p>
        </p:txBody>
      </p:sp>
      <p:sp>
        <p:nvSpPr>
          <p:cNvPr id="49" name="arrow"/>
          <p:cNvSpPr/>
          <p:nvPr/>
        </p:nvSpPr>
        <p:spPr>
          <a:xfrm>
            <a:off x="9720072" y="4343400"/>
            <a:ext cx="219456" cy="182880"/>
          </a:xfrm>
          <a:prstGeom prst="rightArrow">
            <a:avLst/>
          </a:prstGeom>
          <a:solidFill>
            <a:srgbClr val="E36414"/>
          </a:solidFill>
          <a:ln/>
        </p:spPr>
      </p:sp>
      <p:sp>
        <p:nvSpPr>
          <p:cNvPr id="50" name="card"/>
          <p:cNvSpPr/>
          <p:nvPr/>
        </p:nvSpPr>
        <p:spPr>
          <a:xfrm>
            <a:off x="9966960" y="3611880"/>
            <a:ext cx="1691640" cy="1645920"/>
          </a:xfrm>
          <a:prstGeom prst="roundRect">
            <a:avLst>
              <a:gd name="adj" fmla="val 4444"/>
            </a:avLst>
          </a:prstGeom>
          <a:solidFill>
            <a:srgbClr val="FFFFFF"/>
          </a:solidFill>
          <a:ln w="9525">
            <a:solidFill>
              <a:srgbClr val="D5DEDC"/>
            </a:solidFill>
            <a:prstDash val="solid"/>
          </a:ln>
        </p:spPr>
      </p:sp>
      <p:sp>
        <p:nvSpPr>
          <p:cNvPr id="51" name="Text 48"/>
          <p:cNvSpPr txBox="1"/>
          <p:nvPr/>
        </p:nvSpPr>
        <p:spPr>
          <a:xfrm>
            <a:off x="10104120" y="3703320"/>
            <a:ext cx="365760" cy="274320"/>
          </a:xfrm>
          <a:prstGeom prst="rect">
            <a:avLst/>
          </a:prstGeom>
          <a:noFill/>
          <a:ln/>
        </p:spPr>
        <p:txBody>
          <a:bodyPr wrap="square" lIns="0" tIns="0" rIns="0" bIns="0" rtlCol="0" anchor="t"/>
          <a:lstStyle/>
          <a:p>
            <a:pPr indent="0" marL="0">
              <a:buNone/>
            </a:pPr>
            <a:r>
              <a:rPr lang="en-US" sz="1200" b="1" dirty="0">
                <a:solidFill>
                  <a:srgbClr val="E36414"/>
                </a:solidFill>
              </a:rPr>
              <a:t>5</a:t>
            </a:r>
            <a:endParaRPr lang="en-US" sz="1200" dirty="0"/>
          </a:p>
        </p:txBody>
      </p:sp>
      <p:sp>
        <p:nvSpPr>
          <p:cNvPr id="52" name="Text 49"/>
          <p:cNvSpPr txBox="1"/>
          <p:nvPr/>
        </p:nvSpPr>
        <p:spPr>
          <a:xfrm>
            <a:off x="10104120" y="3977640"/>
            <a:ext cx="1463040" cy="274320"/>
          </a:xfrm>
          <a:prstGeom prst="rect">
            <a:avLst/>
          </a:prstGeom>
          <a:noFill/>
          <a:ln/>
        </p:spPr>
        <p:txBody>
          <a:bodyPr wrap="square" lIns="0" tIns="0" rIns="0" bIns="0" rtlCol="0" anchor="t"/>
          <a:lstStyle/>
          <a:p>
            <a:pPr indent="0" marL="0">
              <a:buNone/>
            </a:pPr>
            <a:r>
              <a:rPr lang="en-US" sz="1400" b="1" dirty="0">
                <a:solidFill>
                  <a:srgbClr val="0F4C5C"/>
                </a:solidFill>
              </a:rPr>
              <a:t>Encode and scale</a:t>
            </a:r>
            <a:endParaRPr lang="en-US" sz="1400" dirty="0"/>
          </a:p>
        </p:txBody>
      </p:sp>
      <p:sp>
        <p:nvSpPr>
          <p:cNvPr id="53" name="Text 50"/>
          <p:cNvSpPr txBox="1"/>
          <p:nvPr/>
        </p:nvSpPr>
        <p:spPr>
          <a:xfrm>
            <a:off x="10104120" y="4297680"/>
            <a:ext cx="1463040" cy="868680"/>
          </a:xfrm>
          <a:prstGeom prst="rect">
            <a:avLst/>
          </a:prstGeom>
          <a:noFill/>
          <a:ln/>
        </p:spPr>
        <p:txBody>
          <a:bodyPr wrap="square" lIns="0" tIns="0" rIns="0" bIns="0" rtlCol="0" anchor="t"/>
          <a:lstStyle/>
          <a:p>
            <a:pPr indent="0" marL="0">
              <a:buNone/>
            </a:pPr>
            <a:r>
              <a:rPr lang="en-US" sz="1300" dirty="0">
                <a:solidFill>
                  <a:srgbClr val="1B2B34"/>
                </a:solidFill>
              </a:rPr>
              <a:t>One-hot, StandardScaler: 53 features</a:t>
            </a:r>
            <a:endParaRPr lang="en-US" sz="1300" dirty="0"/>
          </a:p>
        </p:txBody>
      </p:sp>
      <p:sp>
        <p:nvSpPr>
          <p:cNvPr id="54" name="Text 5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dirty="0">
                <a:solidFill>
                  <a:srgbClr val="5B6B73"/>
                </a:solidFill>
              </a:rPr>
              <a:t>Why it matters: median and IQR capping keep every customer record while limiting the pull of extreme values.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On the surface, customers look alike</a:t>
            </a:r>
            <a:endParaRPr lang="en-US" sz="3200" dirty="0"/>
          </a:p>
        </p:txBody>
      </p:sp>
      <p:sp>
        <p:nvSpPr>
          <p:cNvPr id="4" name="card"/>
          <p:cNvSpPr/>
          <p:nvPr/>
        </p:nvSpPr>
        <p:spPr>
          <a:xfrm>
            <a:off x="548640" y="1371600"/>
            <a:ext cx="3566160" cy="4297680"/>
          </a:xfrm>
          <a:prstGeom prst="roundRect">
            <a:avLst>
              <a:gd name="adj" fmla="val 2051"/>
            </a:avLst>
          </a:prstGeom>
          <a:solidFill>
            <a:srgbClr val="FFFFFF"/>
          </a:solidFill>
          <a:ln w="9525">
            <a:solidFill>
              <a:srgbClr val="D5DEDC"/>
            </a:solidFill>
            <a:prstDash val="solid"/>
          </a:ln>
        </p:spPr>
      </p:sp>
      <p:sp>
        <p:nvSpPr>
          <p:cNvPr id="5" name="Text 2"/>
          <p:cNvSpPr txBox="1"/>
          <p:nvPr/>
        </p:nvSpPr>
        <p:spPr>
          <a:xfrm>
            <a:off x="731520" y="1508760"/>
            <a:ext cx="3200400" cy="274320"/>
          </a:xfrm>
          <a:prstGeom prst="rect">
            <a:avLst/>
          </a:prstGeom>
          <a:noFill/>
          <a:ln/>
        </p:spPr>
        <p:txBody>
          <a:bodyPr wrap="square" lIns="0" tIns="0" rIns="0" bIns="0" rtlCol="0" anchor="t"/>
          <a:lstStyle/>
          <a:p>
            <a:pPr indent="0" marL="0">
              <a:buNone/>
            </a:pPr>
            <a:r>
              <a:rPr lang="en-US" sz="1200" b="1" spc="200" kern="0" dirty="0">
                <a:solidFill>
                  <a:srgbClr val="E36414"/>
                </a:solidFill>
              </a:rPr>
              <a:t>MARKETING DATA</a:t>
            </a:r>
            <a:endParaRPr lang="en-US" sz="1200" dirty="0"/>
          </a:p>
        </p:txBody>
      </p:sp>
      <p:pic>
        <p:nvPicPr>
          <p:cNvPr id="6" name="Image 0" descr="img/B63.png">    </p:cNvPr>
          <p:cNvPicPr>
            <a:picLocks noChangeAspect="1"/>
          </p:cNvPicPr>
          <p:nvPr/>
        </p:nvPicPr>
        <p:blipFill>
          <a:blip r:embed="rId1"/>
          <a:stretch>
            <a:fillRect/>
          </a:stretch>
        </p:blipFill>
        <p:spPr>
          <a:xfrm>
            <a:off x="685800" y="2248593"/>
            <a:ext cx="3291840" cy="1629295"/>
          </a:xfrm>
          <a:prstGeom prst="rect">
            <a:avLst/>
          </a:prstGeom>
        </p:spPr>
      </p:pic>
      <p:sp>
        <p:nvSpPr>
          <p:cNvPr id="7" name="Text 3"/>
          <p:cNvSpPr txBox="1"/>
          <p:nvPr/>
        </p:nvSpPr>
        <p:spPr>
          <a:xfrm>
            <a:off x="731520" y="4434840"/>
            <a:ext cx="3200400" cy="1097280"/>
          </a:xfrm>
          <a:prstGeom prst="rect">
            <a:avLst/>
          </a:prstGeom>
          <a:noFill/>
          <a:ln/>
        </p:spPr>
        <p:txBody>
          <a:bodyPr wrap="square" lIns="0" tIns="0" rIns="0" bIns="0" rtlCol="0" anchor="t"/>
          <a:lstStyle/>
          <a:p>
            <a:pPr indent="0" marL="0">
              <a:buNone/>
            </a:pPr>
            <a:r>
              <a:rPr lang="en-US" sz="1800" b="1" dirty="0">
                <a:solidFill>
                  <a:srgbClr val="0F4C5C"/>
                </a:solidFill>
              </a:rPr>
              <a:t>Wine and meat make up most of the spending.</a:t>
            </a:r>
            <a:endParaRPr lang="en-US" sz="1800" dirty="0"/>
          </a:p>
        </p:txBody>
      </p:sp>
      <p:sp>
        <p:nvSpPr>
          <p:cNvPr id="8" name="card"/>
          <p:cNvSpPr/>
          <p:nvPr/>
        </p:nvSpPr>
        <p:spPr>
          <a:xfrm>
            <a:off x="4297680" y="1371600"/>
            <a:ext cx="3566160" cy="4297680"/>
          </a:xfrm>
          <a:prstGeom prst="roundRect">
            <a:avLst>
              <a:gd name="adj" fmla="val 2051"/>
            </a:avLst>
          </a:prstGeom>
          <a:solidFill>
            <a:srgbClr val="FFFFFF"/>
          </a:solidFill>
          <a:ln w="9525">
            <a:solidFill>
              <a:srgbClr val="D5DEDC"/>
            </a:solidFill>
            <a:prstDash val="solid"/>
          </a:ln>
        </p:spPr>
      </p:sp>
      <p:sp>
        <p:nvSpPr>
          <p:cNvPr id="9" name="Text 5"/>
          <p:cNvSpPr txBox="1"/>
          <p:nvPr/>
        </p:nvSpPr>
        <p:spPr>
          <a:xfrm>
            <a:off x="4480560" y="1508760"/>
            <a:ext cx="3200400" cy="274320"/>
          </a:xfrm>
          <a:prstGeom prst="rect">
            <a:avLst/>
          </a:prstGeom>
          <a:noFill/>
          <a:ln/>
        </p:spPr>
        <p:txBody>
          <a:bodyPr wrap="square" lIns="0" tIns="0" rIns="0" bIns="0" rtlCol="0" anchor="t"/>
          <a:lstStyle/>
          <a:p>
            <a:pPr indent="0" marL="0">
              <a:buNone/>
            </a:pPr>
            <a:r>
              <a:rPr lang="en-US" sz="1200" b="1" spc="200" kern="0" dirty="0">
                <a:solidFill>
                  <a:srgbClr val="E36414"/>
                </a:solidFill>
              </a:rPr>
              <a:t>MARKETING DATA</a:t>
            </a:r>
            <a:endParaRPr lang="en-US" sz="1200" dirty="0"/>
          </a:p>
        </p:txBody>
      </p:sp>
      <p:pic>
        <p:nvPicPr>
          <p:cNvPr id="10" name="Image 1" descr="img/B65.png">    </p:cNvPr>
          <p:cNvPicPr>
            <a:picLocks noChangeAspect="1"/>
          </p:cNvPicPr>
          <p:nvPr/>
        </p:nvPicPr>
        <p:blipFill>
          <a:blip r:embed="rId2"/>
          <a:stretch>
            <a:fillRect/>
          </a:stretch>
        </p:blipFill>
        <p:spPr>
          <a:xfrm>
            <a:off x="4434840" y="2042353"/>
            <a:ext cx="3291840" cy="2041774"/>
          </a:xfrm>
          <a:prstGeom prst="rect">
            <a:avLst/>
          </a:prstGeom>
        </p:spPr>
      </p:pic>
      <p:sp>
        <p:nvSpPr>
          <p:cNvPr id="11" name="Text 6"/>
          <p:cNvSpPr txBox="1"/>
          <p:nvPr/>
        </p:nvSpPr>
        <p:spPr>
          <a:xfrm>
            <a:off x="4480560" y="4434840"/>
            <a:ext cx="3200400" cy="1097280"/>
          </a:xfrm>
          <a:prstGeom prst="rect">
            <a:avLst/>
          </a:prstGeom>
          <a:noFill/>
          <a:ln/>
        </p:spPr>
        <p:txBody>
          <a:bodyPr wrap="square" lIns="0" tIns="0" rIns="0" bIns="0" rtlCol="0" anchor="t"/>
          <a:lstStyle/>
          <a:p>
            <a:pPr indent="0" marL="0">
              <a:buNone/>
            </a:pPr>
            <a:r>
              <a:rPr lang="en-US" sz="1800" b="1" dirty="0">
                <a:solidFill>
                  <a:srgbClr val="0F4C5C"/>
                </a:solidFill>
              </a:rPr>
              <a:t>Web, catalog and store purchases are almost equal.</a:t>
            </a:r>
            <a:endParaRPr lang="en-US" sz="1800" dirty="0"/>
          </a:p>
        </p:txBody>
      </p:sp>
      <p:sp>
        <p:nvSpPr>
          <p:cNvPr id="12" name="card"/>
          <p:cNvSpPr/>
          <p:nvPr/>
        </p:nvSpPr>
        <p:spPr>
          <a:xfrm>
            <a:off x="8046720" y="1371600"/>
            <a:ext cx="3566160" cy="4297680"/>
          </a:xfrm>
          <a:prstGeom prst="roundRect">
            <a:avLst>
              <a:gd name="adj" fmla="val 2051"/>
            </a:avLst>
          </a:prstGeom>
          <a:solidFill>
            <a:srgbClr val="FFFFFF"/>
          </a:solidFill>
          <a:ln w="9525">
            <a:solidFill>
              <a:srgbClr val="D5DEDC"/>
            </a:solidFill>
            <a:prstDash val="solid"/>
          </a:ln>
        </p:spPr>
      </p:sp>
      <p:sp>
        <p:nvSpPr>
          <p:cNvPr id="13" name="Text 8"/>
          <p:cNvSpPr txBox="1"/>
          <p:nvPr/>
        </p:nvSpPr>
        <p:spPr>
          <a:xfrm>
            <a:off x="8229600" y="1508760"/>
            <a:ext cx="3200400" cy="274320"/>
          </a:xfrm>
          <a:prstGeom prst="rect">
            <a:avLst/>
          </a:prstGeom>
          <a:noFill/>
          <a:ln/>
        </p:spPr>
        <p:txBody>
          <a:bodyPr wrap="square" lIns="0" tIns="0" rIns="0" bIns="0" rtlCol="0" anchor="t"/>
          <a:lstStyle/>
          <a:p>
            <a:pPr indent="0" marL="0">
              <a:buNone/>
            </a:pPr>
            <a:r>
              <a:rPr lang="en-US" sz="1200" b="1" spc="200" kern="0" dirty="0">
                <a:solidFill>
                  <a:srgbClr val="E36414"/>
                </a:solidFill>
              </a:rPr>
              <a:t>CHURN DATA</a:t>
            </a:r>
            <a:endParaRPr lang="en-US" sz="1200" dirty="0"/>
          </a:p>
        </p:txBody>
      </p:sp>
      <p:pic>
        <p:nvPicPr>
          <p:cNvPr id="14" name="Image 2" descr="img/A46.png">    </p:cNvPr>
          <p:cNvPicPr>
            <a:picLocks noChangeAspect="1"/>
          </p:cNvPicPr>
          <p:nvPr/>
        </p:nvPicPr>
        <p:blipFill>
          <a:blip r:embed="rId3"/>
          <a:stretch>
            <a:fillRect/>
          </a:stretch>
        </p:blipFill>
        <p:spPr>
          <a:xfrm>
            <a:off x="8236597" y="1874520"/>
            <a:ext cx="3186405" cy="2377440"/>
          </a:xfrm>
          <a:prstGeom prst="rect">
            <a:avLst/>
          </a:prstGeom>
        </p:spPr>
      </p:pic>
      <p:sp>
        <p:nvSpPr>
          <p:cNvPr id="15" name="Text 9"/>
          <p:cNvSpPr txBox="1"/>
          <p:nvPr/>
        </p:nvSpPr>
        <p:spPr>
          <a:xfrm>
            <a:off x="8229600" y="4434840"/>
            <a:ext cx="3200400" cy="1097280"/>
          </a:xfrm>
          <a:prstGeom prst="rect">
            <a:avLst/>
          </a:prstGeom>
          <a:noFill/>
          <a:ln/>
        </p:spPr>
        <p:txBody>
          <a:bodyPr wrap="square" lIns="0" tIns="0" rIns="0" bIns="0" rtlCol="0" anchor="t"/>
          <a:lstStyle/>
          <a:p>
            <a:pPr indent="0" marL="0">
              <a:buNone/>
            </a:pPr>
            <a:r>
              <a:rPr lang="en-US" sz="1800" b="1" dirty="0">
                <a:solidFill>
                  <a:srgbClr val="0F4C5C"/>
                </a:solidFill>
              </a:rPr>
              <a:t>No two features are strongly related (all |r| below 0.1).</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One workflow for both datasets</a:t>
            </a:r>
            <a:endParaRPr lang="en-US" sz="3200" dirty="0"/>
          </a:p>
        </p:txBody>
      </p:sp>
      <p:sp>
        <p:nvSpPr>
          <p:cNvPr id="4" name="step"/>
          <p:cNvSpPr/>
          <p:nvPr/>
        </p:nvSpPr>
        <p:spPr>
          <a:xfrm>
            <a:off x="548640" y="1645920"/>
            <a:ext cx="1645920" cy="1188720"/>
          </a:xfrm>
          <a:prstGeom prst="roundRect">
            <a:avLst>
              <a:gd name="adj" fmla="val 6154"/>
            </a:avLst>
          </a:prstGeom>
          <a:solidFill>
            <a:srgbClr val="0F4C5C"/>
          </a:solidFill>
          <a:ln/>
        </p:spPr>
      </p:sp>
      <p:sp>
        <p:nvSpPr>
          <p:cNvPr id="5" name="Text 2"/>
          <p:cNvSpPr txBox="1"/>
          <p:nvPr/>
        </p:nvSpPr>
        <p:spPr>
          <a:xfrm>
            <a:off x="640080"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Raw data</a:t>
            </a:r>
            <a:endParaRPr lang="en-US" sz="1500" dirty="0"/>
          </a:p>
        </p:txBody>
      </p:sp>
      <p:sp>
        <p:nvSpPr>
          <p:cNvPr id="6" name="arrow"/>
          <p:cNvSpPr/>
          <p:nvPr/>
        </p:nvSpPr>
        <p:spPr>
          <a:xfrm>
            <a:off x="2212848" y="2148840"/>
            <a:ext cx="182880" cy="182880"/>
          </a:xfrm>
          <a:prstGeom prst="rightArrow">
            <a:avLst/>
          </a:prstGeom>
          <a:solidFill>
            <a:srgbClr val="5B6B73"/>
          </a:solidFill>
          <a:ln/>
        </p:spPr>
      </p:sp>
      <p:sp>
        <p:nvSpPr>
          <p:cNvPr id="7" name="step"/>
          <p:cNvSpPr/>
          <p:nvPr/>
        </p:nvSpPr>
        <p:spPr>
          <a:xfrm>
            <a:off x="2432304" y="1645920"/>
            <a:ext cx="1645920" cy="1188720"/>
          </a:xfrm>
          <a:prstGeom prst="roundRect">
            <a:avLst>
              <a:gd name="adj" fmla="val 6154"/>
            </a:avLst>
          </a:prstGeom>
          <a:solidFill>
            <a:srgbClr val="0F4C5C"/>
          </a:solidFill>
          <a:ln/>
        </p:spPr>
      </p:sp>
      <p:sp>
        <p:nvSpPr>
          <p:cNvPr id="8" name="Text 5"/>
          <p:cNvSpPr txBox="1"/>
          <p:nvPr/>
        </p:nvSpPr>
        <p:spPr>
          <a:xfrm>
            <a:off x="2523744"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Cleaning</a:t>
            </a:r>
            <a:endParaRPr lang="en-US" sz="1500" dirty="0"/>
          </a:p>
        </p:txBody>
      </p:sp>
      <p:sp>
        <p:nvSpPr>
          <p:cNvPr id="9" name="arrow"/>
          <p:cNvSpPr/>
          <p:nvPr/>
        </p:nvSpPr>
        <p:spPr>
          <a:xfrm>
            <a:off x="4096512" y="2148840"/>
            <a:ext cx="182880" cy="182880"/>
          </a:xfrm>
          <a:prstGeom prst="rightArrow">
            <a:avLst/>
          </a:prstGeom>
          <a:solidFill>
            <a:srgbClr val="5B6B73"/>
          </a:solidFill>
          <a:ln/>
        </p:spPr>
      </p:sp>
      <p:sp>
        <p:nvSpPr>
          <p:cNvPr id="10" name="step"/>
          <p:cNvSpPr/>
          <p:nvPr/>
        </p:nvSpPr>
        <p:spPr>
          <a:xfrm>
            <a:off x="4315968" y="1645920"/>
            <a:ext cx="1645920" cy="1188720"/>
          </a:xfrm>
          <a:prstGeom prst="roundRect">
            <a:avLst>
              <a:gd name="adj" fmla="val 6154"/>
            </a:avLst>
          </a:prstGeom>
          <a:solidFill>
            <a:srgbClr val="0F4C5C"/>
          </a:solidFill>
          <a:ln/>
        </p:spPr>
      </p:sp>
      <p:sp>
        <p:nvSpPr>
          <p:cNvPr id="11" name="Text 8"/>
          <p:cNvSpPr txBox="1"/>
          <p:nvPr/>
        </p:nvSpPr>
        <p:spPr>
          <a:xfrm>
            <a:off x="4407408"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Encode and scale</a:t>
            </a:r>
            <a:endParaRPr lang="en-US" sz="1500" dirty="0"/>
          </a:p>
        </p:txBody>
      </p:sp>
      <p:sp>
        <p:nvSpPr>
          <p:cNvPr id="12" name="arrow"/>
          <p:cNvSpPr/>
          <p:nvPr/>
        </p:nvSpPr>
        <p:spPr>
          <a:xfrm>
            <a:off x="5980176" y="2148840"/>
            <a:ext cx="182880" cy="182880"/>
          </a:xfrm>
          <a:prstGeom prst="rightArrow">
            <a:avLst/>
          </a:prstGeom>
          <a:solidFill>
            <a:srgbClr val="5B6B73"/>
          </a:solidFill>
          <a:ln/>
        </p:spPr>
      </p:sp>
      <p:sp>
        <p:nvSpPr>
          <p:cNvPr id="13" name="step"/>
          <p:cNvSpPr/>
          <p:nvPr/>
        </p:nvSpPr>
        <p:spPr>
          <a:xfrm>
            <a:off x="6199632" y="1645920"/>
            <a:ext cx="1645920" cy="1188720"/>
          </a:xfrm>
          <a:prstGeom prst="roundRect">
            <a:avLst>
              <a:gd name="adj" fmla="val 6154"/>
            </a:avLst>
          </a:prstGeom>
          <a:solidFill>
            <a:srgbClr val="0F4C5C"/>
          </a:solidFill>
          <a:ln/>
        </p:spPr>
      </p:sp>
      <p:sp>
        <p:nvSpPr>
          <p:cNvPr id="14" name="Text 11"/>
          <p:cNvSpPr txBox="1"/>
          <p:nvPr/>
        </p:nvSpPr>
        <p:spPr>
          <a:xfrm>
            <a:off x="6291072"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PCA</a:t>
            </a:r>
            <a:endParaRPr lang="en-US" sz="1500" dirty="0"/>
          </a:p>
        </p:txBody>
      </p:sp>
      <p:sp>
        <p:nvSpPr>
          <p:cNvPr id="15" name="arrow"/>
          <p:cNvSpPr/>
          <p:nvPr/>
        </p:nvSpPr>
        <p:spPr>
          <a:xfrm>
            <a:off x="7863840" y="2148840"/>
            <a:ext cx="182880" cy="182880"/>
          </a:xfrm>
          <a:prstGeom prst="rightArrow">
            <a:avLst/>
          </a:prstGeom>
          <a:solidFill>
            <a:srgbClr val="5B6B73"/>
          </a:solidFill>
          <a:ln/>
        </p:spPr>
      </p:sp>
      <p:sp>
        <p:nvSpPr>
          <p:cNvPr id="16" name="step"/>
          <p:cNvSpPr/>
          <p:nvPr/>
        </p:nvSpPr>
        <p:spPr>
          <a:xfrm>
            <a:off x="8083296" y="1645920"/>
            <a:ext cx="1645920" cy="1188720"/>
          </a:xfrm>
          <a:prstGeom prst="roundRect">
            <a:avLst>
              <a:gd name="adj" fmla="val 6154"/>
            </a:avLst>
          </a:prstGeom>
          <a:solidFill>
            <a:srgbClr val="E36414"/>
          </a:solidFill>
          <a:ln/>
        </p:spPr>
      </p:sp>
      <p:sp>
        <p:nvSpPr>
          <p:cNvPr id="17" name="Text 14"/>
          <p:cNvSpPr txBox="1"/>
          <p:nvPr/>
        </p:nvSpPr>
        <p:spPr>
          <a:xfrm>
            <a:off x="8174736"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K-Means, Hierarchical, DBSCAN</a:t>
            </a:r>
            <a:endParaRPr lang="en-US" sz="1500" dirty="0"/>
          </a:p>
        </p:txBody>
      </p:sp>
      <p:sp>
        <p:nvSpPr>
          <p:cNvPr id="18" name="arrow"/>
          <p:cNvSpPr/>
          <p:nvPr/>
        </p:nvSpPr>
        <p:spPr>
          <a:xfrm>
            <a:off x="9747504" y="2148840"/>
            <a:ext cx="182880" cy="182880"/>
          </a:xfrm>
          <a:prstGeom prst="rightArrow">
            <a:avLst/>
          </a:prstGeom>
          <a:solidFill>
            <a:srgbClr val="5B6B73"/>
          </a:solidFill>
          <a:ln/>
        </p:spPr>
      </p:sp>
      <p:sp>
        <p:nvSpPr>
          <p:cNvPr id="19" name="step"/>
          <p:cNvSpPr/>
          <p:nvPr/>
        </p:nvSpPr>
        <p:spPr>
          <a:xfrm>
            <a:off x="9966960" y="1645920"/>
            <a:ext cx="1645920" cy="1188720"/>
          </a:xfrm>
          <a:prstGeom prst="roundRect">
            <a:avLst>
              <a:gd name="adj" fmla="val 6154"/>
            </a:avLst>
          </a:prstGeom>
          <a:solidFill>
            <a:srgbClr val="0F4C5C"/>
          </a:solidFill>
          <a:ln/>
        </p:spPr>
      </p:sp>
      <p:sp>
        <p:nvSpPr>
          <p:cNvPr id="20" name="Text 17"/>
          <p:cNvSpPr txBox="1"/>
          <p:nvPr/>
        </p:nvSpPr>
        <p:spPr>
          <a:xfrm>
            <a:off x="10058400" y="1645920"/>
            <a:ext cx="1463040" cy="1188720"/>
          </a:xfrm>
          <a:prstGeom prst="rect">
            <a:avLst/>
          </a:prstGeom>
          <a:noFill/>
          <a:ln/>
        </p:spPr>
        <p:txBody>
          <a:bodyPr wrap="square" lIns="0" tIns="0" rIns="0" bIns="0" rtlCol="0" anchor="ctr"/>
          <a:lstStyle/>
          <a:p>
            <a:pPr algn="ctr" indent="0" marL="0">
              <a:buNone/>
            </a:pPr>
            <a:r>
              <a:rPr lang="en-US" sz="1500" b="1" dirty="0">
                <a:solidFill>
                  <a:srgbClr val="FFFFFF"/>
                </a:solidFill>
              </a:rPr>
              <a:t>Silhouette and profiling</a:t>
            </a:r>
            <a:endParaRPr lang="en-US" sz="1500" dirty="0"/>
          </a:p>
        </p:txBody>
      </p:sp>
      <p:sp>
        <p:nvSpPr>
          <p:cNvPr id="21" name="card"/>
          <p:cNvSpPr/>
          <p:nvPr/>
        </p:nvSpPr>
        <p:spPr>
          <a:xfrm>
            <a:off x="548640" y="3291840"/>
            <a:ext cx="5440680" cy="1371600"/>
          </a:xfrm>
          <a:prstGeom prst="roundRect">
            <a:avLst>
              <a:gd name="adj" fmla="val 5333"/>
            </a:avLst>
          </a:prstGeom>
          <a:solidFill>
            <a:srgbClr val="FFFFFF"/>
          </a:solidFill>
          <a:ln w="9525">
            <a:solidFill>
              <a:srgbClr val="D5DEDC"/>
            </a:solidFill>
            <a:prstDash val="solid"/>
          </a:ln>
        </p:spPr>
      </p:sp>
      <p:sp>
        <p:nvSpPr>
          <p:cNvPr id="22" name="Text 19"/>
          <p:cNvSpPr txBox="1"/>
          <p:nvPr/>
        </p:nvSpPr>
        <p:spPr>
          <a:xfrm>
            <a:off x="777240" y="3456432"/>
            <a:ext cx="4937760" cy="274320"/>
          </a:xfrm>
          <a:prstGeom prst="rect">
            <a:avLst/>
          </a:prstGeom>
          <a:noFill/>
          <a:ln/>
        </p:spPr>
        <p:txBody>
          <a:bodyPr wrap="square" lIns="0" tIns="0" rIns="0" bIns="0" rtlCol="0" anchor="t"/>
          <a:lstStyle/>
          <a:p>
            <a:pPr indent="0" marL="0">
              <a:buNone/>
            </a:pPr>
            <a:r>
              <a:rPr lang="en-US" sz="1400" b="1" dirty="0">
                <a:solidFill>
                  <a:srgbClr val="E36414"/>
                </a:solidFill>
              </a:rPr>
              <a:t>Churn data</a:t>
            </a:r>
            <a:endParaRPr lang="en-US" sz="1400" dirty="0"/>
          </a:p>
        </p:txBody>
      </p:sp>
      <p:sp>
        <p:nvSpPr>
          <p:cNvPr id="23" name="Text 20"/>
          <p:cNvSpPr txBox="1"/>
          <p:nvPr/>
        </p:nvSpPr>
        <p:spPr>
          <a:xfrm>
            <a:off x="777240" y="3794760"/>
            <a:ext cx="4937760" cy="731520"/>
          </a:xfrm>
          <a:prstGeom prst="rect">
            <a:avLst/>
          </a:prstGeom>
          <a:noFill/>
          <a:ln/>
        </p:spPr>
        <p:txBody>
          <a:bodyPr wrap="square" lIns="0" tIns="0" rIns="0" bIns="0" rtlCol="0" anchor="t"/>
          <a:lstStyle/>
          <a:p>
            <a:pPr indent="0" marL="0">
              <a:buNone/>
            </a:pPr>
            <a:r>
              <a:rPr lang="en-US" sz="1600" dirty="0">
                <a:solidFill>
                  <a:srgbClr val="1B2B34"/>
                </a:solidFill>
              </a:rPr>
              <a:t>PCA to 2 components, then all three algorithms run on those 2 components.</a:t>
            </a:r>
            <a:endParaRPr lang="en-US" sz="1600" dirty="0"/>
          </a:p>
        </p:txBody>
      </p:sp>
      <p:sp>
        <p:nvSpPr>
          <p:cNvPr id="24" name="card"/>
          <p:cNvSpPr/>
          <p:nvPr/>
        </p:nvSpPr>
        <p:spPr>
          <a:xfrm>
            <a:off x="6172200" y="3291840"/>
            <a:ext cx="5440680" cy="1371600"/>
          </a:xfrm>
          <a:prstGeom prst="roundRect">
            <a:avLst>
              <a:gd name="adj" fmla="val 5333"/>
            </a:avLst>
          </a:prstGeom>
          <a:solidFill>
            <a:srgbClr val="FFFFFF"/>
          </a:solidFill>
          <a:ln w="9525">
            <a:solidFill>
              <a:srgbClr val="D5DEDC"/>
            </a:solidFill>
            <a:prstDash val="solid"/>
          </a:ln>
        </p:spPr>
      </p:sp>
      <p:sp>
        <p:nvSpPr>
          <p:cNvPr id="25" name="Text 22"/>
          <p:cNvSpPr txBox="1"/>
          <p:nvPr/>
        </p:nvSpPr>
        <p:spPr>
          <a:xfrm>
            <a:off x="6400800" y="3456432"/>
            <a:ext cx="4937760" cy="274320"/>
          </a:xfrm>
          <a:prstGeom prst="rect">
            <a:avLst/>
          </a:prstGeom>
          <a:noFill/>
          <a:ln/>
        </p:spPr>
        <p:txBody>
          <a:bodyPr wrap="square" lIns="0" tIns="0" rIns="0" bIns="0" rtlCol="0" anchor="t"/>
          <a:lstStyle/>
          <a:p>
            <a:pPr indent="0" marL="0">
              <a:buNone/>
            </a:pPr>
            <a:r>
              <a:rPr lang="en-US" sz="1400" b="1" dirty="0">
                <a:solidFill>
                  <a:srgbClr val="E36414"/>
                </a:solidFill>
              </a:rPr>
              <a:t>Marketing data</a:t>
            </a:r>
            <a:endParaRPr lang="en-US" sz="1400" dirty="0"/>
          </a:p>
        </p:txBody>
      </p:sp>
      <p:sp>
        <p:nvSpPr>
          <p:cNvPr id="26" name="Text 23"/>
          <p:cNvSpPr txBox="1"/>
          <p:nvPr/>
        </p:nvSpPr>
        <p:spPr>
          <a:xfrm>
            <a:off x="6400800" y="3794760"/>
            <a:ext cx="4937760" cy="731520"/>
          </a:xfrm>
          <a:prstGeom prst="rect">
            <a:avLst/>
          </a:prstGeom>
          <a:noFill/>
          <a:ln/>
        </p:spPr>
        <p:txBody>
          <a:bodyPr wrap="square" lIns="0" tIns="0" rIns="0" bIns="0" rtlCol="0" anchor="t"/>
          <a:lstStyle/>
          <a:p>
            <a:pPr indent="0" marL="0">
              <a:buNone/>
            </a:pPr>
            <a:r>
              <a:rPr lang="en-US" sz="1600" dirty="0">
                <a:solidFill>
                  <a:srgbClr val="1B2B34"/>
                </a:solidFill>
              </a:rPr>
              <a:t>All 53 scaled features go into clustering. PCA is only used for plotting.</a:t>
            </a:r>
            <a:endParaRPr lang="en-US" sz="1600" dirty="0"/>
          </a:p>
        </p:txBody>
      </p:sp>
      <p:sp>
        <p:nvSpPr>
          <p:cNvPr id="27" name="Text 24"/>
          <p:cNvSpPr txBox="1"/>
          <p:nvPr/>
        </p:nvSpPr>
        <p:spPr>
          <a:xfrm>
            <a:off x="548640" y="5029200"/>
            <a:ext cx="5486400" cy="274320"/>
          </a:xfrm>
          <a:prstGeom prst="rect">
            <a:avLst/>
          </a:prstGeom>
          <a:noFill/>
          <a:ln/>
        </p:spPr>
        <p:txBody>
          <a:bodyPr wrap="square" lIns="0" tIns="0" rIns="0" bIns="0" rtlCol="0" anchor="t"/>
          <a:lstStyle/>
          <a:p>
            <a:pPr indent="0" marL="0">
              <a:buNone/>
            </a:pPr>
            <a:r>
              <a:rPr lang="en-US" sz="1400" b="1" dirty="0">
                <a:solidFill>
                  <a:srgbClr val="E36414"/>
                </a:solidFill>
              </a:rPr>
              <a:t>How we judge a result</a:t>
            </a:r>
            <a:endParaRPr lang="en-US" sz="1400" dirty="0"/>
          </a:p>
        </p:txBody>
      </p:sp>
      <p:sp>
        <p:nvSpPr>
          <p:cNvPr id="28" name="Text 25"/>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600" dirty="0">
                <a:solidFill>
                  <a:srgbClr val="1B2B34"/>
                </a:solidFill>
              </a:rPr>
              <a:t>Silhouette Score (-1 to 1): higher means customers sit closer to their own group than to others. Then we profile each group by its average values.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K-Means: the baseline method</a:t>
            </a:r>
            <a:endParaRPr lang="en-US" sz="3200" dirty="0"/>
          </a:p>
        </p:txBody>
      </p:sp>
      <p:sp>
        <p:nvSpPr>
          <p:cNvPr id="4" name="Text 1"/>
          <p:cNvSpPr txBox="1"/>
          <p:nvPr/>
        </p:nvSpPr>
        <p:spPr>
          <a:xfrm>
            <a:off x="548640" y="1371600"/>
            <a:ext cx="4023360" cy="274320"/>
          </a:xfrm>
          <a:prstGeom prst="rect">
            <a:avLst/>
          </a:prstGeom>
          <a:noFill/>
          <a:ln/>
        </p:spPr>
        <p:txBody>
          <a:bodyPr wrap="square" lIns="0" tIns="0" rIns="0" bIns="0" rtlCol="0" anchor="t"/>
          <a:lstStyle/>
          <a:p>
            <a:pPr indent="0" marL="0">
              <a:buNone/>
            </a:pPr>
            <a:r>
              <a:rPr lang="en-US" sz="1400" b="1" dirty="0">
                <a:solidFill>
                  <a:srgbClr val="E36414"/>
                </a:solidFill>
              </a:rPr>
              <a:t>What it does</a:t>
            </a:r>
            <a:endParaRPr lang="en-US" sz="1400" dirty="0"/>
          </a:p>
        </p:txBody>
      </p:sp>
      <p:sp>
        <p:nvSpPr>
          <p:cNvPr id="5" name="Text 2"/>
          <p:cNvSpPr txBox="1"/>
          <p:nvPr/>
        </p:nvSpPr>
        <p:spPr>
          <a:xfrm>
            <a:off x="548640" y="1691640"/>
            <a:ext cx="4023360" cy="1188720"/>
          </a:xfrm>
          <a:prstGeom prst="rect">
            <a:avLst/>
          </a:prstGeom>
          <a:noFill/>
          <a:ln/>
        </p:spPr>
        <p:txBody>
          <a:bodyPr wrap="square" lIns="0" tIns="0" rIns="0" bIns="0" rtlCol="0" anchor="t"/>
          <a:lstStyle/>
          <a:p>
            <a:pPr indent="0" marL="0">
              <a:buNone/>
            </a:pPr>
            <a:r>
              <a:rPr lang="en-US" sz="1600" dirty="0">
                <a:solidFill>
                  <a:srgbClr val="1B2B34"/>
                </a:solidFill>
              </a:rPr>
              <a:t>Places K centres and assigns each customer to the nearest one, until nothing changes.</a:t>
            </a:r>
            <a:endParaRPr lang="en-US" sz="1600" dirty="0"/>
          </a:p>
        </p:txBody>
      </p:sp>
      <p:sp>
        <p:nvSpPr>
          <p:cNvPr id="6" name="Text 3"/>
          <p:cNvSpPr txBox="1"/>
          <p:nvPr/>
        </p:nvSpPr>
        <p:spPr>
          <a:xfrm>
            <a:off x="548640" y="2971800"/>
            <a:ext cx="4023360" cy="274320"/>
          </a:xfrm>
          <a:prstGeom prst="rect">
            <a:avLst/>
          </a:prstGeom>
          <a:noFill/>
          <a:ln/>
        </p:spPr>
        <p:txBody>
          <a:bodyPr wrap="square" lIns="0" tIns="0" rIns="0" bIns="0" rtlCol="0" anchor="t"/>
          <a:lstStyle/>
          <a:p>
            <a:pPr indent="0" marL="0">
              <a:buNone/>
            </a:pPr>
            <a:r>
              <a:rPr lang="en-US" sz="1400" b="1" dirty="0">
                <a:solidFill>
                  <a:srgbClr val="E36414"/>
                </a:solidFill>
              </a:rPr>
              <a:t>Why we used it</a:t>
            </a:r>
            <a:endParaRPr lang="en-US" sz="1400" dirty="0"/>
          </a:p>
        </p:txBody>
      </p:sp>
      <p:sp>
        <p:nvSpPr>
          <p:cNvPr id="7" name="Text 4"/>
          <p:cNvSpPr txBox="1"/>
          <p:nvPr/>
        </p:nvSpPr>
        <p:spPr>
          <a:xfrm>
            <a:off x="548640" y="3291840"/>
            <a:ext cx="4023360" cy="1188720"/>
          </a:xfrm>
          <a:prstGeom prst="rect">
            <a:avLst/>
          </a:prstGeom>
          <a:noFill/>
          <a:ln/>
        </p:spPr>
        <p:txBody>
          <a:bodyPr wrap="square" lIns="0" tIns="0" rIns="0" bIns="0" rtlCol="0" anchor="t"/>
          <a:lstStyle/>
          <a:p>
            <a:pPr indent="0" marL="0">
              <a:buNone/>
            </a:pPr>
            <a:r>
              <a:rPr lang="en-US" sz="1600" dirty="0">
                <a:solidFill>
                  <a:srgbClr val="1B2B34"/>
                </a:solidFill>
              </a:rPr>
              <a:t>Simple, fast, and works well on scaled numbers. Easy to explain.</a:t>
            </a:r>
            <a:endParaRPr lang="en-US" sz="1600" dirty="0"/>
          </a:p>
        </p:txBody>
      </p:sp>
      <p:sp>
        <p:nvSpPr>
          <p:cNvPr id="8" name="Text 5"/>
          <p:cNvSpPr txBox="1"/>
          <p:nvPr/>
        </p:nvSpPr>
        <p:spPr>
          <a:xfrm>
            <a:off x="548640" y="4572000"/>
            <a:ext cx="4023360" cy="274320"/>
          </a:xfrm>
          <a:prstGeom prst="rect">
            <a:avLst/>
          </a:prstGeom>
          <a:noFill/>
          <a:ln/>
        </p:spPr>
        <p:txBody>
          <a:bodyPr wrap="square" lIns="0" tIns="0" rIns="0" bIns="0" rtlCol="0" anchor="t"/>
          <a:lstStyle/>
          <a:p>
            <a:pPr indent="0" marL="0">
              <a:buNone/>
            </a:pPr>
            <a:r>
              <a:rPr lang="en-US" sz="1400" b="1" dirty="0">
                <a:solidFill>
                  <a:srgbClr val="E36414"/>
                </a:solidFill>
              </a:rPr>
              <a:t>Result</a:t>
            </a:r>
            <a:endParaRPr lang="en-US" sz="1400" dirty="0"/>
          </a:p>
        </p:txBody>
      </p:sp>
      <p:sp>
        <p:nvSpPr>
          <p:cNvPr id="9" name="Text 6"/>
          <p:cNvSpPr txBox="1"/>
          <p:nvPr/>
        </p:nvSpPr>
        <p:spPr>
          <a:xfrm>
            <a:off x="548640" y="4892040"/>
            <a:ext cx="4023360" cy="1188720"/>
          </a:xfrm>
          <a:prstGeom prst="rect">
            <a:avLst/>
          </a:prstGeom>
          <a:noFill/>
          <a:ln/>
        </p:spPr>
        <p:txBody>
          <a:bodyPr wrap="square" lIns="0" tIns="0" rIns="0" bIns="0" rtlCol="0" anchor="t"/>
          <a:lstStyle/>
          <a:p>
            <a:pPr indent="0" marL="0">
              <a:buNone/>
            </a:pPr>
            <a:r>
              <a:rPr lang="en-US" sz="1600" dirty="0">
                <a:solidFill>
                  <a:srgbClr val="1B2B34"/>
                </a:solidFill>
              </a:rPr>
              <a:t>Churn: K=2, 94 + 86 customers, silhouette 0.400.</a:t>
            </a:r>
            <a:endParaRPr lang="en-US" sz="1600" dirty="0"/>
          </a:p>
          <a:p>
            <a:pPr indent="0" marL="0">
              <a:buNone/>
            </a:pPr>
            <a:r>
              <a:rPr lang="en-US" sz="1600" dirty="0">
                <a:solidFill>
                  <a:srgbClr val="1B2B34"/>
                </a:solidFill>
              </a:rPr>
              <a:t>Marketing: K=3, 983 / 3,594 / 5,423 customers, silhouette 0.0352.</a:t>
            </a:r>
            <a:endParaRPr lang="en-US" sz="1600" dirty="0"/>
          </a:p>
        </p:txBody>
      </p:sp>
      <p:sp>
        <p:nvSpPr>
          <p:cNvPr id="10" name="card"/>
          <p:cNvSpPr/>
          <p:nvPr/>
        </p:nvSpPr>
        <p:spPr>
          <a:xfrm>
            <a:off x="4937760" y="1371600"/>
            <a:ext cx="3291840" cy="4754880"/>
          </a:xfrm>
          <a:prstGeom prst="roundRect">
            <a:avLst>
              <a:gd name="adj" fmla="val 2222"/>
            </a:avLst>
          </a:prstGeom>
          <a:solidFill>
            <a:srgbClr val="FFFFFF"/>
          </a:solidFill>
          <a:ln w="9525">
            <a:solidFill>
              <a:srgbClr val="D5DEDC"/>
            </a:solidFill>
            <a:prstDash val="solid"/>
          </a:ln>
        </p:spPr>
      </p:sp>
      <p:pic>
        <p:nvPicPr>
          <p:cNvPr id="11" name="Image 0" descr="img/A63.png">    </p:cNvPr>
          <p:cNvPicPr>
            <a:picLocks noChangeAspect="1"/>
          </p:cNvPicPr>
          <p:nvPr/>
        </p:nvPicPr>
        <p:blipFill>
          <a:blip r:embed="rId1"/>
          <a:stretch>
            <a:fillRect/>
          </a:stretch>
        </p:blipFill>
        <p:spPr>
          <a:xfrm>
            <a:off x="5029200" y="1765682"/>
            <a:ext cx="3108960" cy="2503676"/>
          </a:xfrm>
          <a:prstGeom prst="rect">
            <a:avLst/>
          </a:prstGeom>
        </p:spPr>
      </p:pic>
      <p:sp>
        <p:nvSpPr>
          <p:cNvPr id="12" name="Text 8"/>
          <p:cNvSpPr txBox="1"/>
          <p:nvPr/>
        </p:nvSpPr>
        <p:spPr>
          <a:xfrm>
            <a:off x="5120640" y="4754880"/>
            <a:ext cx="3017520" cy="1188720"/>
          </a:xfrm>
          <a:prstGeom prst="rect">
            <a:avLst/>
          </a:prstGeom>
          <a:noFill/>
          <a:ln/>
        </p:spPr>
        <p:txBody>
          <a:bodyPr wrap="square" lIns="0" tIns="0" rIns="0" bIns="0" rtlCol="0" anchor="t"/>
          <a:lstStyle/>
          <a:p>
            <a:pPr indent="0" marL="0">
              <a:buNone/>
            </a:pPr>
            <a:r>
              <a:rPr lang="en-US" sz="1400" b="1" dirty="0">
                <a:solidFill>
                  <a:srgbClr val="0F4C5C"/>
                </a:solidFill>
              </a:rPr>
              <a:t>Churn data: K=2 on PCA components</a:t>
            </a:r>
            <a:endParaRPr lang="en-US" sz="1400" dirty="0"/>
          </a:p>
        </p:txBody>
      </p:sp>
      <p:sp>
        <p:nvSpPr>
          <p:cNvPr id="13" name="card"/>
          <p:cNvSpPr/>
          <p:nvPr/>
        </p:nvSpPr>
        <p:spPr>
          <a:xfrm>
            <a:off x="8321040" y="1371600"/>
            <a:ext cx="3291840" cy="4754880"/>
          </a:xfrm>
          <a:prstGeom prst="roundRect">
            <a:avLst>
              <a:gd name="adj" fmla="val 2222"/>
            </a:avLst>
          </a:prstGeom>
          <a:solidFill>
            <a:srgbClr val="FFFFFF"/>
          </a:solidFill>
          <a:ln w="9525">
            <a:solidFill>
              <a:srgbClr val="D5DEDC"/>
            </a:solidFill>
            <a:prstDash val="solid"/>
          </a:ln>
        </p:spPr>
      </p:sp>
      <p:pic>
        <p:nvPicPr>
          <p:cNvPr id="14" name="Image 1" descr="img/B85.png">    </p:cNvPr>
          <p:cNvPicPr>
            <a:picLocks noChangeAspect="1"/>
          </p:cNvPicPr>
          <p:nvPr/>
        </p:nvPicPr>
        <p:blipFill>
          <a:blip r:embed="rId2"/>
          <a:stretch>
            <a:fillRect/>
          </a:stretch>
        </p:blipFill>
        <p:spPr>
          <a:xfrm>
            <a:off x="8412480" y="2091113"/>
            <a:ext cx="3108960" cy="1852815"/>
          </a:xfrm>
          <a:prstGeom prst="rect">
            <a:avLst/>
          </a:prstGeom>
        </p:spPr>
      </p:pic>
      <p:sp>
        <p:nvSpPr>
          <p:cNvPr id="15" name="Text 10"/>
          <p:cNvSpPr txBox="1"/>
          <p:nvPr/>
        </p:nvSpPr>
        <p:spPr>
          <a:xfrm>
            <a:off x="8503920" y="4754880"/>
            <a:ext cx="3017520" cy="1188720"/>
          </a:xfrm>
          <a:prstGeom prst="rect">
            <a:avLst/>
          </a:prstGeom>
          <a:noFill/>
          <a:ln/>
        </p:spPr>
        <p:txBody>
          <a:bodyPr wrap="square" lIns="0" tIns="0" rIns="0" bIns="0" rtlCol="0" anchor="t"/>
          <a:lstStyle/>
          <a:p>
            <a:pPr indent="0" marL="0">
              <a:buNone/>
            </a:pPr>
            <a:r>
              <a:rPr lang="en-US" sz="1400" b="1" dirty="0">
                <a:solidFill>
                  <a:srgbClr val="0F4C5C"/>
                </a:solidFill>
              </a:rPr>
              <a:t>Marketing data: silhouette score for each K</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Hierarchical and DBSCAN as cross-checks</a:t>
            </a:r>
            <a:endParaRPr lang="en-US" sz="3200" dirty="0"/>
          </a:p>
        </p:txBody>
      </p:sp>
      <p:sp>
        <p:nvSpPr>
          <p:cNvPr id="4" name="card"/>
          <p:cNvSpPr/>
          <p:nvPr/>
        </p:nvSpPr>
        <p:spPr>
          <a:xfrm>
            <a:off x="548640" y="1371600"/>
            <a:ext cx="5440680" cy="4754880"/>
          </a:xfrm>
          <a:prstGeom prst="roundRect">
            <a:avLst>
              <a:gd name="adj" fmla="val 1538"/>
            </a:avLst>
          </a:prstGeom>
          <a:solidFill>
            <a:srgbClr val="FFFFFF"/>
          </a:solidFill>
          <a:ln w="9525">
            <a:solidFill>
              <a:srgbClr val="D5DEDC"/>
            </a:solidFill>
            <a:prstDash val="solid"/>
          </a:ln>
        </p:spPr>
      </p:sp>
      <p:sp>
        <p:nvSpPr>
          <p:cNvPr id="5" name="Text 2"/>
          <p:cNvSpPr txBox="1"/>
          <p:nvPr/>
        </p:nvSpPr>
        <p:spPr>
          <a:xfrm>
            <a:off x="777240" y="1508760"/>
            <a:ext cx="4937760" cy="36576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Hierarchical (Ward linkage)</a:t>
            </a:r>
            <a:endParaRPr lang="en-US" sz="2000" dirty="0"/>
          </a:p>
        </p:txBody>
      </p:sp>
      <p:pic>
        <p:nvPicPr>
          <p:cNvPr id="6" name="Image 0" descr="img/B105.png">    </p:cNvPr>
          <p:cNvPicPr>
            <a:picLocks noChangeAspect="1"/>
          </p:cNvPicPr>
          <p:nvPr/>
        </p:nvPicPr>
        <p:blipFill>
          <a:blip r:embed="rId1"/>
          <a:stretch>
            <a:fillRect/>
          </a:stretch>
        </p:blipFill>
        <p:spPr>
          <a:xfrm>
            <a:off x="1114716" y="1965960"/>
            <a:ext cx="4308529" cy="1828800"/>
          </a:xfrm>
          <a:prstGeom prst="rect">
            <a:avLst/>
          </a:prstGeom>
        </p:spPr>
      </p:pic>
      <p:sp>
        <p:nvSpPr>
          <p:cNvPr id="7" name="Text 3"/>
          <p:cNvSpPr txBox="1"/>
          <p:nvPr/>
        </p:nvSpPr>
        <p:spPr>
          <a:xfrm>
            <a:off x="777240" y="3794760"/>
            <a:ext cx="4937760" cy="274320"/>
          </a:xfrm>
          <a:prstGeom prst="rect">
            <a:avLst/>
          </a:prstGeom>
          <a:noFill/>
          <a:ln/>
        </p:spPr>
        <p:txBody>
          <a:bodyPr wrap="square" lIns="0" tIns="0" rIns="0" bIns="0" rtlCol="0" anchor="t"/>
          <a:lstStyle/>
          <a:p>
            <a:pPr indent="0" marL="0">
              <a:buNone/>
            </a:pPr>
            <a:r>
              <a:rPr lang="en-US" sz="1200" dirty="0">
                <a:solidFill>
                  <a:srgbClr val="5B6B73"/>
                </a:solidFill>
              </a:rPr>
              <a:t>Marketing data dendrogram</a:t>
            </a:r>
            <a:endParaRPr lang="en-US" sz="1200" dirty="0"/>
          </a:p>
        </p:txBody>
      </p:sp>
      <p:sp>
        <p:nvSpPr>
          <p:cNvPr id="8" name="Text 4"/>
          <p:cNvSpPr txBox="1"/>
          <p:nvPr/>
        </p:nvSpPr>
        <p:spPr>
          <a:xfrm>
            <a:off x="777240" y="4160520"/>
            <a:ext cx="4937760" cy="548640"/>
          </a:xfrm>
          <a:prstGeom prst="rect">
            <a:avLst/>
          </a:prstGeom>
          <a:noFill/>
          <a:ln/>
        </p:spPr>
        <p:txBody>
          <a:bodyPr wrap="square" lIns="0" tIns="0" rIns="0" bIns="0" rtlCol="0" anchor="t"/>
          <a:lstStyle/>
          <a:p>
            <a:pPr indent="0" marL="0">
              <a:buNone/>
            </a:pPr>
            <a:r>
              <a:rPr lang="en-US" sz="1400" dirty="0">
                <a:solidFill>
                  <a:srgbClr val="5B6B73"/>
                </a:solidFill>
              </a:rPr>
              <a:t>Merges the two closest groups, step by step. The dendrogram shows how.</a:t>
            </a:r>
            <a:endParaRPr lang="en-US" sz="1400" dirty="0"/>
          </a:p>
        </p:txBody>
      </p:sp>
      <p:sp>
        <p:nvSpPr>
          <p:cNvPr id="9" name="Text 5"/>
          <p:cNvSpPr txBox="1"/>
          <p:nvPr/>
        </p:nvSpPr>
        <p:spPr>
          <a:xfrm>
            <a:off x="777240" y="4800600"/>
            <a:ext cx="4937760" cy="1188720"/>
          </a:xfrm>
          <a:prstGeom prst="rect">
            <a:avLst/>
          </a:prstGeom>
          <a:noFill/>
          <a:ln/>
        </p:spPr>
        <p:txBody>
          <a:bodyPr wrap="square" lIns="0" tIns="0" rIns="0" bIns="0" rtlCol="0" anchor="t"/>
          <a:lstStyle/>
          <a:p>
            <a:pPr indent="0" marL="0">
              <a:buNone/>
            </a:pPr>
            <a:r>
              <a:rPr lang="en-US" sz="1400" b="1" dirty="0">
                <a:solidFill>
                  <a:srgbClr val="1B2B34"/>
                </a:solidFill>
              </a:rPr>
              <a:t>Churn: 2 clusters (97 / 83), silhouette 0.393.</a:t>
            </a:r>
            <a:endParaRPr lang="en-US" sz="1400" dirty="0"/>
          </a:p>
          <a:p>
            <a:pPr indent="0" marL="0">
              <a:buNone/>
            </a:pPr>
            <a:r>
              <a:rPr lang="en-US" sz="1400" b="1" dirty="0">
                <a:solidFill>
                  <a:srgbClr val="1B2B34"/>
                </a:solidFill>
              </a:rPr>
              <a:t>Marketing: 3 clusters (8,315 / 873 / 812), silhouette 0.0436.</a:t>
            </a:r>
            <a:endParaRPr lang="en-US" sz="1400" dirty="0"/>
          </a:p>
        </p:txBody>
      </p:sp>
      <p:sp>
        <p:nvSpPr>
          <p:cNvPr id="10" name="card"/>
          <p:cNvSpPr/>
          <p:nvPr/>
        </p:nvSpPr>
        <p:spPr>
          <a:xfrm>
            <a:off x="6172200" y="1371600"/>
            <a:ext cx="5440680" cy="4754880"/>
          </a:xfrm>
          <a:prstGeom prst="roundRect">
            <a:avLst>
              <a:gd name="adj" fmla="val 1538"/>
            </a:avLst>
          </a:prstGeom>
          <a:solidFill>
            <a:srgbClr val="FFFFFF"/>
          </a:solidFill>
          <a:ln w="9525">
            <a:solidFill>
              <a:srgbClr val="D5DEDC"/>
            </a:solidFill>
            <a:prstDash val="solid"/>
          </a:ln>
        </p:spPr>
      </p:sp>
      <p:sp>
        <p:nvSpPr>
          <p:cNvPr id="11" name="Text 7"/>
          <p:cNvSpPr txBox="1"/>
          <p:nvPr/>
        </p:nvSpPr>
        <p:spPr>
          <a:xfrm>
            <a:off x="6400800" y="1508760"/>
            <a:ext cx="4937760" cy="36576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DBSCAN</a:t>
            </a:r>
            <a:endParaRPr lang="en-US" sz="2000" dirty="0"/>
          </a:p>
        </p:txBody>
      </p:sp>
      <p:pic>
        <p:nvPicPr>
          <p:cNvPr id="12" name="Image 1" descr="img/B116.png">    </p:cNvPr>
          <p:cNvPicPr>
            <a:picLocks noChangeAspect="1"/>
          </p:cNvPicPr>
          <p:nvPr/>
        </p:nvPicPr>
        <p:blipFill>
          <a:blip r:embed="rId2"/>
          <a:stretch>
            <a:fillRect/>
          </a:stretch>
        </p:blipFill>
        <p:spPr>
          <a:xfrm>
            <a:off x="7045079" y="1965960"/>
            <a:ext cx="3694922" cy="1828800"/>
          </a:xfrm>
          <a:prstGeom prst="rect">
            <a:avLst/>
          </a:prstGeom>
        </p:spPr>
      </p:pic>
      <p:sp>
        <p:nvSpPr>
          <p:cNvPr id="13" name="Text 8"/>
          <p:cNvSpPr txBox="1"/>
          <p:nvPr/>
        </p:nvSpPr>
        <p:spPr>
          <a:xfrm>
            <a:off x="6400800" y="3794760"/>
            <a:ext cx="4937760" cy="274320"/>
          </a:xfrm>
          <a:prstGeom prst="rect">
            <a:avLst/>
          </a:prstGeom>
          <a:noFill/>
          <a:ln/>
        </p:spPr>
        <p:txBody>
          <a:bodyPr wrap="square" lIns="0" tIns="0" rIns="0" bIns="0" rtlCol="0" anchor="t"/>
          <a:lstStyle/>
          <a:p>
            <a:pPr indent="0" marL="0">
              <a:buNone/>
            </a:pPr>
            <a:r>
              <a:rPr lang="en-US" sz="1200" dirty="0">
                <a:solidFill>
                  <a:srgbClr val="5B6B73"/>
                </a:solidFill>
              </a:rPr>
              <a:t>Marketing data: k-distance plot, eps = 7.2</a:t>
            </a:r>
            <a:endParaRPr lang="en-US" sz="1200" dirty="0"/>
          </a:p>
        </p:txBody>
      </p:sp>
      <p:sp>
        <p:nvSpPr>
          <p:cNvPr id="14" name="Text 9"/>
          <p:cNvSpPr txBox="1"/>
          <p:nvPr/>
        </p:nvSpPr>
        <p:spPr>
          <a:xfrm>
            <a:off x="6400800" y="4160520"/>
            <a:ext cx="4937760" cy="548640"/>
          </a:xfrm>
          <a:prstGeom prst="rect">
            <a:avLst/>
          </a:prstGeom>
          <a:noFill/>
          <a:ln/>
        </p:spPr>
        <p:txBody>
          <a:bodyPr wrap="square" lIns="0" tIns="0" rIns="0" bIns="0" rtlCol="0" anchor="t"/>
          <a:lstStyle/>
          <a:p>
            <a:pPr indent="0" marL="0">
              <a:buNone/>
            </a:pPr>
            <a:r>
              <a:rPr lang="en-US" sz="1400" dirty="0">
                <a:solidFill>
                  <a:srgbClr val="5B6B73"/>
                </a:solidFill>
              </a:rPr>
              <a:t>Finds dense regions and marks isolated customers as noise. No K needed.</a:t>
            </a:r>
            <a:endParaRPr lang="en-US" sz="1400" dirty="0"/>
          </a:p>
        </p:txBody>
      </p:sp>
      <p:sp>
        <p:nvSpPr>
          <p:cNvPr id="15" name="Text 10"/>
          <p:cNvSpPr txBox="1"/>
          <p:nvPr/>
        </p:nvSpPr>
        <p:spPr>
          <a:xfrm>
            <a:off x="6400800" y="4800600"/>
            <a:ext cx="4937760" cy="1188720"/>
          </a:xfrm>
          <a:prstGeom prst="rect">
            <a:avLst/>
          </a:prstGeom>
          <a:noFill/>
          <a:ln/>
        </p:spPr>
        <p:txBody>
          <a:bodyPr wrap="square" lIns="0" tIns="0" rIns="0" bIns="0" rtlCol="0" anchor="t"/>
          <a:lstStyle/>
          <a:p>
            <a:pPr indent="0" marL="0">
              <a:buNone/>
            </a:pPr>
            <a:r>
              <a:rPr lang="en-US" sz="1400" b="1" dirty="0">
                <a:solidFill>
                  <a:srgbClr val="1B2B34"/>
                </a:solidFill>
              </a:rPr>
              <a:t>Churn: eps 0.5, 2 clusters + 20 noise, silhouette 0.164.</a:t>
            </a:r>
            <a:endParaRPr lang="en-US" sz="1400" dirty="0"/>
          </a:p>
          <a:p>
            <a:pPr indent="0" marL="0">
              <a:buNone/>
            </a:pPr>
            <a:r>
              <a:rPr lang="en-US" sz="1400" b="1" dirty="0">
                <a:solidFill>
                  <a:srgbClr val="1B2B34"/>
                </a:solidFill>
              </a:rPr>
              <a:t>Marketing: eps 7.2, 17.66% noise, silhouette 0.0244.</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Comparing the three methods</a:t>
            </a:r>
            <a:endParaRPr lang="en-US" sz="3200" dirty="0"/>
          </a:p>
        </p:txBody>
      </p:sp>
      <p:graphicFrame>
        <p:nvGraphicFramePr>
          <p:cNvPr id="4" name="Chart 0" descr=""/>
          <p:cNvGraphicFramePr/>
          <p:nvPr/>
        </p:nvGraphicFramePr>
        <p:xfrm>
          <a:off x="548640" y="1325880"/>
          <a:ext cx="53949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25880"/>
          <a:ext cx="5394960" cy="3108960"/>
        </p:xfrm>
        <a:graphic xmlns:a="http://schemas.openxmlformats.org/drawingml/2006/main">
          <a:graphicData uri="http://schemas.openxmlformats.org/drawingml/2006/chart">
            <c:chart xmlns:c="http://schemas.openxmlformats.org/drawingml/2006/chart" r:id="rId2"/>
          </a:graphicData>
        </a:graphic>
      </p:graphicFrame>
      <p:sp>
        <p:nvSpPr>
          <p:cNvPr id="6" name="card"/>
          <p:cNvSpPr/>
          <p:nvPr/>
        </p:nvSpPr>
        <p:spPr>
          <a:xfrm>
            <a:off x="548640" y="4572000"/>
            <a:ext cx="5394960" cy="1600200"/>
          </a:xfrm>
          <a:prstGeom prst="roundRect">
            <a:avLst>
              <a:gd name="adj" fmla="val 4571"/>
            </a:avLst>
          </a:prstGeom>
          <a:solidFill>
            <a:srgbClr val="FFFFFF"/>
          </a:solidFill>
          <a:ln w="9525">
            <a:solidFill>
              <a:srgbClr val="D5DEDC"/>
            </a:solidFill>
            <a:prstDash val="solid"/>
          </a:ln>
        </p:spPr>
      </p:sp>
      <p:sp>
        <p:nvSpPr>
          <p:cNvPr id="7" name="Text 2"/>
          <p:cNvSpPr txBox="1"/>
          <p:nvPr/>
        </p:nvSpPr>
        <p:spPr>
          <a:xfrm>
            <a:off x="777240" y="4709160"/>
            <a:ext cx="4937760" cy="320040"/>
          </a:xfrm>
          <a:prstGeom prst="rect">
            <a:avLst/>
          </a:prstGeom>
          <a:noFill/>
          <a:ln/>
        </p:spPr>
        <p:txBody>
          <a:bodyPr wrap="square" lIns="0" tIns="0" rIns="0" bIns="0" rtlCol="0" anchor="t"/>
          <a:lstStyle/>
          <a:p>
            <a:pPr indent="0" marL="0">
              <a:buNone/>
            </a:pPr>
            <a:r>
              <a:rPr lang="en-US" sz="1600" b="1" dirty="0">
                <a:solidFill>
                  <a:srgbClr val="0F4C5C"/>
                </a:solidFill>
              </a:rPr>
              <a:t>Selected: K-Means</a:t>
            </a:r>
            <a:endParaRPr lang="en-US" sz="1600" dirty="0"/>
          </a:p>
        </p:txBody>
      </p:sp>
      <p:sp>
        <p:nvSpPr>
          <p:cNvPr id="8" name="Text 3"/>
          <p:cNvSpPr txBox="1"/>
          <p:nvPr/>
        </p:nvSpPr>
        <p:spPr>
          <a:xfrm>
            <a:off x="777240" y="5120640"/>
            <a:ext cx="4937760" cy="914400"/>
          </a:xfrm>
          <a:prstGeom prst="rect">
            <a:avLst/>
          </a:prstGeom>
          <a:noFill/>
          <a:ln/>
        </p:spPr>
        <p:txBody>
          <a:bodyPr wrap="square" lIns="0" tIns="0" rIns="0" bIns="0" rtlCol="0" anchor="t"/>
          <a:lstStyle/>
          <a:p>
            <a:pPr indent="0" marL="0">
              <a:buNone/>
            </a:pPr>
            <a:r>
              <a:rPr lang="en-US" sz="1400" dirty="0">
                <a:solidFill>
                  <a:srgbClr val="1B2B34"/>
                </a:solidFill>
              </a:rPr>
              <a:t>Highest score and a balanced split (94 / 86). DBSCAN left 20 customers as noise.</a:t>
            </a:r>
            <a:endParaRPr lang="en-US" sz="1400" dirty="0"/>
          </a:p>
        </p:txBody>
      </p:sp>
      <p:sp>
        <p:nvSpPr>
          <p:cNvPr id="9" name="card"/>
          <p:cNvSpPr/>
          <p:nvPr/>
        </p:nvSpPr>
        <p:spPr>
          <a:xfrm>
            <a:off x="6217920" y="4572000"/>
            <a:ext cx="5394960" cy="1600200"/>
          </a:xfrm>
          <a:prstGeom prst="roundRect">
            <a:avLst>
              <a:gd name="adj" fmla="val 4571"/>
            </a:avLst>
          </a:prstGeom>
          <a:solidFill>
            <a:srgbClr val="FFFFFF"/>
          </a:solidFill>
          <a:ln w="9525">
            <a:solidFill>
              <a:srgbClr val="D5DEDC"/>
            </a:solidFill>
            <a:prstDash val="solid"/>
          </a:ln>
        </p:spPr>
      </p:sp>
      <p:sp>
        <p:nvSpPr>
          <p:cNvPr id="10" name="Text 5"/>
          <p:cNvSpPr txBox="1"/>
          <p:nvPr/>
        </p:nvSpPr>
        <p:spPr>
          <a:xfrm>
            <a:off x="6446520" y="4709160"/>
            <a:ext cx="4937760" cy="320040"/>
          </a:xfrm>
          <a:prstGeom prst="rect">
            <a:avLst/>
          </a:prstGeom>
          <a:noFill/>
          <a:ln/>
        </p:spPr>
        <p:txBody>
          <a:bodyPr wrap="square" lIns="0" tIns="0" rIns="0" bIns="0" rtlCol="0" anchor="t"/>
          <a:lstStyle/>
          <a:p>
            <a:pPr indent="0" marL="0">
              <a:buNone/>
            </a:pPr>
            <a:r>
              <a:rPr lang="en-US" sz="1600" b="1" dirty="0">
                <a:solidFill>
                  <a:srgbClr val="0F4C5C"/>
                </a:solidFill>
              </a:rPr>
              <a:t>Best score: Hierarchical, with a caveat</a:t>
            </a:r>
            <a:endParaRPr lang="en-US" sz="1600" dirty="0"/>
          </a:p>
        </p:txBody>
      </p:sp>
      <p:sp>
        <p:nvSpPr>
          <p:cNvPr id="11" name="Text 6"/>
          <p:cNvSpPr txBox="1"/>
          <p:nvPr/>
        </p:nvSpPr>
        <p:spPr>
          <a:xfrm>
            <a:off x="6446520" y="5120640"/>
            <a:ext cx="4937760" cy="914400"/>
          </a:xfrm>
          <a:prstGeom prst="rect">
            <a:avLst/>
          </a:prstGeom>
          <a:noFill/>
          <a:ln/>
        </p:spPr>
        <p:txBody>
          <a:bodyPr wrap="square" lIns="0" tIns="0" rIns="0" bIns="0" rtlCol="0" anchor="t"/>
          <a:lstStyle/>
          <a:p>
            <a:pPr indent="0" marL="0">
              <a:buNone/>
            </a:pPr>
            <a:r>
              <a:rPr lang="en-US" sz="1400" dirty="0">
                <a:solidFill>
                  <a:srgbClr val="1B2B34"/>
                </a:solidFill>
              </a:rPr>
              <a:t>83% of customers fall in one cluster. K-Means is more balanced (10% / 36% / 54%). All scores are very low.</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Key results at a glance</a:t>
            </a:r>
            <a:endParaRPr lang="en-US" sz="3200" dirty="0"/>
          </a:p>
        </p:txBody>
      </p:sp>
      <p:sp>
        <p:nvSpPr>
          <p:cNvPr id="4" name="card"/>
          <p:cNvSpPr/>
          <p:nvPr/>
        </p:nvSpPr>
        <p:spPr>
          <a:xfrm>
            <a:off x="548640" y="1371600"/>
            <a:ext cx="5440680" cy="2194560"/>
          </a:xfrm>
          <a:prstGeom prst="roundRect">
            <a:avLst>
              <a:gd name="adj" fmla="val 3333"/>
            </a:avLst>
          </a:prstGeom>
          <a:solidFill>
            <a:srgbClr val="FFFFFF"/>
          </a:solidFill>
          <a:ln w="9525">
            <a:solidFill>
              <a:srgbClr val="D5DEDC"/>
            </a:solidFill>
            <a:prstDash val="solid"/>
          </a:ln>
        </p:spPr>
      </p:sp>
      <p:sp>
        <p:nvSpPr>
          <p:cNvPr id="5" name="Text 2"/>
          <p:cNvSpPr txBox="1"/>
          <p:nvPr/>
        </p:nvSpPr>
        <p:spPr>
          <a:xfrm>
            <a:off x="822960" y="1554480"/>
            <a:ext cx="4846320" cy="1005840"/>
          </a:xfrm>
          <a:prstGeom prst="rect">
            <a:avLst/>
          </a:prstGeom>
          <a:noFill/>
          <a:ln/>
        </p:spPr>
        <p:txBody>
          <a:bodyPr wrap="square" lIns="0" tIns="0" rIns="0" bIns="0" rtlCol="0" anchor="ctr"/>
          <a:lstStyle/>
          <a:p>
            <a:pPr indent="0" marL="0">
              <a:buNone/>
            </a:pPr>
            <a:r>
              <a:rPr lang="en-US" sz="6000" b="1" dirty="0">
                <a:solidFill>
                  <a:srgbClr val="0F4C5C"/>
                </a:solidFill>
                <a:latin typeface="Cambria" pitchFamily="34" charset="0"/>
                <a:ea typeface="Cambria" pitchFamily="34" charset="-122"/>
                <a:cs typeface="Cambria" pitchFamily="34" charset="-120"/>
              </a:rPr>
              <a:t>0.400</a:t>
            </a:r>
            <a:endParaRPr lang="en-US" sz="6000" dirty="0"/>
          </a:p>
        </p:txBody>
      </p:sp>
      <p:sp>
        <p:nvSpPr>
          <p:cNvPr id="6" name="Text 3"/>
          <p:cNvSpPr txBox="1"/>
          <p:nvPr/>
        </p:nvSpPr>
        <p:spPr>
          <a:xfrm>
            <a:off x="822960" y="2606040"/>
            <a:ext cx="4846320" cy="365760"/>
          </a:xfrm>
          <a:prstGeom prst="rect">
            <a:avLst/>
          </a:prstGeom>
          <a:noFill/>
          <a:ln/>
        </p:spPr>
        <p:txBody>
          <a:bodyPr wrap="square" lIns="0" tIns="0" rIns="0" bIns="0" rtlCol="0" anchor="t"/>
          <a:lstStyle/>
          <a:p>
            <a:pPr indent="0" marL="0">
              <a:buNone/>
            </a:pPr>
            <a:r>
              <a:rPr lang="en-US" sz="1800" b="1" dirty="0">
                <a:solidFill>
                  <a:srgbClr val="1B2B34"/>
                </a:solidFill>
              </a:rPr>
              <a:t>Silhouette, K-Means on churn data</a:t>
            </a:r>
            <a:endParaRPr lang="en-US" sz="1800" dirty="0"/>
          </a:p>
        </p:txBody>
      </p:sp>
      <p:sp>
        <p:nvSpPr>
          <p:cNvPr id="7" name="Text 4"/>
          <p:cNvSpPr txBox="1"/>
          <p:nvPr/>
        </p:nvSpPr>
        <p:spPr>
          <a:xfrm>
            <a:off x="822960" y="3017520"/>
            <a:ext cx="4846320" cy="365760"/>
          </a:xfrm>
          <a:prstGeom prst="rect">
            <a:avLst/>
          </a:prstGeom>
          <a:noFill/>
          <a:ln/>
        </p:spPr>
        <p:txBody>
          <a:bodyPr wrap="square" lIns="0" tIns="0" rIns="0" bIns="0" rtlCol="0" anchor="t"/>
          <a:lstStyle/>
          <a:p>
            <a:pPr indent="0" marL="0">
              <a:buNone/>
            </a:pPr>
            <a:r>
              <a:rPr lang="en-US" sz="1400" dirty="0">
                <a:solidFill>
                  <a:srgbClr val="5B6B73"/>
                </a:solidFill>
              </a:rPr>
              <a:t>Best of three methods</a:t>
            </a:r>
            <a:endParaRPr lang="en-US" sz="1400" dirty="0"/>
          </a:p>
        </p:txBody>
      </p:sp>
      <p:sp>
        <p:nvSpPr>
          <p:cNvPr id="8" name="card"/>
          <p:cNvSpPr/>
          <p:nvPr/>
        </p:nvSpPr>
        <p:spPr>
          <a:xfrm>
            <a:off x="6172200" y="1371600"/>
            <a:ext cx="5440680" cy="2194560"/>
          </a:xfrm>
          <a:prstGeom prst="roundRect">
            <a:avLst>
              <a:gd name="adj" fmla="val 3333"/>
            </a:avLst>
          </a:prstGeom>
          <a:solidFill>
            <a:srgbClr val="FFFFFF"/>
          </a:solidFill>
          <a:ln w="9525">
            <a:solidFill>
              <a:srgbClr val="D5DEDC"/>
            </a:solidFill>
            <a:prstDash val="solid"/>
          </a:ln>
        </p:spPr>
      </p:sp>
      <p:sp>
        <p:nvSpPr>
          <p:cNvPr id="9" name="Text 6"/>
          <p:cNvSpPr txBox="1"/>
          <p:nvPr/>
        </p:nvSpPr>
        <p:spPr>
          <a:xfrm>
            <a:off x="6446520" y="1554480"/>
            <a:ext cx="4846320" cy="1005840"/>
          </a:xfrm>
          <a:prstGeom prst="rect">
            <a:avLst/>
          </a:prstGeom>
          <a:noFill/>
          <a:ln/>
        </p:spPr>
        <p:txBody>
          <a:bodyPr wrap="square" lIns="0" tIns="0" rIns="0" bIns="0" rtlCol="0" anchor="ctr"/>
          <a:lstStyle/>
          <a:p>
            <a:pPr indent="0" marL="0">
              <a:buNone/>
            </a:pPr>
            <a:r>
              <a:rPr lang="en-US" sz="6000" b="1" dirty="0">
                <a:solidFill>
                  <a:srgbClr val="E36414"/>
                </a:solidFill>
                <a:latin typeface="Cambria" pitchFamily="34" charset="0"/>
                <a:ea typeface="Cambria" pitchFamily="34" charset="-122"/>
                <a:cs typeface="Cambria" pitchFamily="34" charset="-120"/>
              </a:rPr>
              <a:t>57%</a:t>
            </a:r>
            <a:endParaRPr lang="en-US" sz="6000" dirty="0"/>
          </a:p>
        </p:txBody>
      </p:sp>
      <p:sp>
        <p:nvSpPr>
          <p:cNvPr id="10" name="Text 7"/>
          <p:cNvSpPr txBox="1"/>
          <p:nvPr/>
        </p:nvSpPr>
        <p:spPr>
          <a:xfrm>
            <a:off x="6446520" y="2606040"/>
            <a:ext cx="4846320" cy="365760"/>
          </a:xfrm>
          <a:prstGeom prst="rect">
            <a:avLst/>
          </a:prstGeom>
          <a:noFill/>
          <a:ln/>
        </p:spPr>
        <p:txBody>
          <a:bodyPr wrap="square" lIns="0" tIns="0" rIns="0" bIns="0" rtlCol="0" anchor="t"/>
          <a:lstStyle/>
          <a:p>
            <a:pPr indent="0" marL="0">
              <a:buNone/>
            </a:pPr>
            <a:r>
              <a:rPr lang="en-US" sz="1800" b="1" dirty="0">
                <a:solidFill>
                  <a:srgbClr val="1B2B34"/>
                </a:solidFill>
              </a:rPr>
              <a:t>Churn in the Higher-Risk segment</a:t>
            </a:r>
            <a:endParaRPr lang="en-US" sz="1800" dirty="0"/>
          </a:p>
        </p:txBody>
      </p:sp>
      <p:sp>
        <p:nvSpPr>
          <p:cNvPr id="11" name="Text 8"/>
          <p:cNvSpPr txBox="1"/>
          <p:nvPr/>
        </p:nvSpPr>
        <p:spPr>
          <a:xfrm>
            <a:off x="6446520" y="3017520"/>
            <a:ext cx="4846320" cy="365760"/>
          </a:xfrm>
          <a:prstGeom prst="rect">
            <a:avLst/>
          </a:prstGeom>
          <a:noFill/>
          <a:ln/>
        </p:spPr>
        <p:txBody>
          <a:bodyPr wrap="square" lIns="0" tIns="0" rIns="0" bIns="0" rtlCol="0" anchor="t"/>
          <a:lstStyle/>
          <a:p>
            <a:pPr indent="0" marL="0">
              <a:buNone/>
            </a:pPr>
            <a:r>
              <a:rPr lang="en-US" sz="1400" dirty="0">
                <a:solidFill>
                  <a:srgbClr val="5B6B73"/>
                </a:solidFill>
              </a:rPr>
              <a:t>vs 48% in the More Satisfied segment</a:t>
            </a:r>
            <a:endParaRPr lang="en-US" sz="1400" dirty="0"/>
          </a:p>
        </p:txBody>
      </p:sp>
      <p:sp>
        <p:nvSpPr>
          <p:cNvPr id="12" name="card"/>
          <p:cNvSpPr/>
          <p:nvPr/>
        </p:nvSpPr>
        <p:spPr>
          <a:xfrm>
            <a:off x="548640" y="3840480"/>
            <a:ext cx="5440680" cy="2194560"/>
          </a:xfrm>
          <a:prstGeom prst="roundRect">
            <a:avLst>
              <a:gd name="adj" fmla="val 3333"/>
            </a:avLst>
          </a:prstGeom>
          <a:solidFill>
            <a:srgbClr val="FFFFFF"/>
          </a:solidFill>
          <a:ln w="9525">
            <a:solidFill>
              <a:srgbClr val="D5DEDC"/>
            </a:solidFill>
            <a:prstDash val="solid"/>
          </a:ln>
        </p:spPr>
      </p:sp>
      <p:sp>
        <p:nvSpPr>
          <p:cNvPr id="13" name="Text 10"/>
          <p:cNvSpPr txBox="1"/>
          <p:nvPr/>
        </p:nvSpPr>
        <p:spPr>
          <a:xfrm>
            <a:off x="822960" y="4023360"/>
            <a:ext cx="4846320" cy="1005840"/>
          </a:xfrm>
          <a:prstGeom prst="rect">
            <a:avLst/>
          </a:prstGeom>
          <a:noFill/>
          <a:ln/>
        </p:spPr>
        <p:txBody>
          <a:bodyPr wrap="square" lIns="0" tIns="0" rIns="0" bIns="0" rtlCol="0" anchor="ctr"/>
          <a:lstStyle/>
          <a:p>
            <a:pPr indent="0" marL="0">
              <a:buNone/>
            </a:pPr>
            <a:r>
              <a:rPr lang="en-US" sz="6000" b="1" dirty="0">
                <a:solidFill>
                  <a:srgbClr val="0F4C5C"/>
                </a:solidFill>
                <a:latin typeface="Cambria" pitchFamily="34" charset="0"/>
                <a:ea typeface="Cambria" pitchFamily="34" charset="-122"/>
                <a:cs typeface="Cambria" pitchFamily="34" charset="-120"/>
              </a:rPr>
              <a:t>0.0436</a:t>
            </a:r>
            <a:endParaRPr lang="en-US" sz="6000" dirty="0"/>
          </a:p>
        </p:txBody>
      </p:sp>
      <p:sp>
        <p:nvSpPr>
          <p:cNvPr id="14" name="Text 11"/>
          <p:cNvSpPr txBox="1"/>
          <p:nvPr/>
        </p:nvSpPr>
        <p:spPr>
          <a:xfrm>
            <a:off x="822960" y="5074920"/>
            <a:ext cx="4846320" cy="365760"/>
          </a:xfrm>
          <a:prstGeom prst="rect">
            <a:avLst/>
          </a:prstGeom>
          <a:noFill/>
          <a:ln/>
        </p:spPr>
        <p:txBody>
          <a:bodyPr wrap="square" lIns="0" tIns="0" rIns="0" bIns="0" rtlCol="0" anchor="t"/>
          <a:lstStyle/>
          <a:p>
            <a:pPr indent="0" marL="0">
              <a:buNone/>
            </a:pPr>
            <a:r>
              <a:rPr lang="en-US" sz="1800" b="1" dirty="0">
                <a:solidFill>
                  <a:srgbClr val="1B2B34"/>
                </a:solidFill>
              </a:rPr>
              <a:t>Best silhouette on 10,000 customers</a:t>
            </a:r>
            <a:endParaRPr lang="en-US" sz="1800" dirty="0"/>
          </a:p>
        </p:txBody>
      </p:sp>
      <p:sp>
        <p:nvSpPr>
          <p:cNvPr id="15" name="Text 12"/>
          <p:cNvSpPr txBox="1"/>
          <p:nvPr/>
        </p:nvSpPr>
        <p:spPr>
          <a:xfrm>
            <a:off x="822960" y="5486400"/>
            <a:ext cx="4846320" cy="365760"/>
          </a:xfrm>
          <a:prstGeom prst="rect">
            <a:avLst/>
          </a:prstGeom>
          <a:noFill/>
          <a:ln/>
        </p:spPr>
        <p:txBody>
          <a:bodyPr wrap="square" lIns="0" tIns="0" rIns="0" bIns="0" rtlCol="0" anchor="t"/>
          <a:lstStyle/>
          <a:p>
            <a:pPr indent="0" marL="0">
              <a:buNone/>
            </a:pPr>
            <a:r>
              <a:rPr lang="en-US" sz="1400" dirty="0">
                <a:solidFill>
                  <a:srgbClr val="5B6B73"/>
                </a:solidFill>
              </a:rPr>
              <a:t>Hierarchical. Weak separation</a:t>
            </a:r>
            <a:endParaRPr lang="en-US" sz="1400" dirty="0"/>
          </a:p>
        </p:txBody>
      </p:sp>
      <p:sp>
        <p:nvSpPr>
          <p:cNvPr id="16" name="card"/>
          <p:cNvSpPr/>
          <p:nvPr/>
        </p:nvSpPr>
        <p:spPr>
          <a:xfrm>
            <a:off x="6172200" y="3840480"/>
            <a:ext cx="5440680" cy="2194560"/>
          </a:xfrm>
          <a:prstGeom prst="roundRect">
            <a:avLst>
              <a:gd name="adj" fmla="val 3333"/>
            </a:avLst>
          </a:prstGeom>
          <a:solidFill>
            <a:srgbClr val="FFFFFF"/>
          </a:solidFill>
          <a:ln w="9525">
            <a:solidFill>
              <a:srgbClr val="D5DEDC"/>
            </a:solidFill>
            <a:prstDash val="solid"/>
          </a:ln>
        </p:spPr>
      </p:sp>
      <p:sp>
        <p:nvSpPr>
          <p:cNvPr id="17" name="Text 14"/>
          <p:cNvSpPr txBox="1"/>
          <p:nvPr/>
        </p:nvSpPr>
        <p:spPr>
          <a:xfrm>
            <a:off x="6446520" y="4023360"/>
            <a:ext cx="4846320" cy="1005840"/>
          </a:xfrm>
          <a:prstGeom prst="rect">
            <a:avLst/>
          </a:prstGeom>
          <a:noFill/>
          <a:ln/>
        </p:spPr>
        <p:txBody>
          <a:bodyPr wrap="square" lIns="0" tIns="0" rIns="0" bIns="0" rtlCol="0" anchor="ctr"/>
          <a:lstStyle/>
          <a:p>
            <a:pPr indent="0" marL="0">
              <a:buNone/>
            </a:pPr>
            <a:r>
              <a:rPr lang="en-US" sz="6000" b="1" dirty="0">
                <a:solidFill>
                  <a:srgbClr val="E36414"/>
                </a:solidFill>
                <a:latin typeface="Cambria" pitchFamily="34" charset="0"/>
                <a:ea typeface="Cambria" pitchFamily="34" charset="-122"/>
                <a:cs typeface="Cambria" pitchFamily="34" charset="-120"/>
              </a:rPr>
              <a:t>7.6%</a:t>
            </a:r>
            <a:endParaRPr lang="en-US" sz="6000" dirty="0"/>
          </a:p>
        </p:txBody>
      </p:sp>
      <p:sp>
        <p:nvSpPr>
          <p:cNvPr id="18" name="Text 15"/>
          <p:cNvSpPr txBox="1"/>
          <p:nvPr/>
        </p:nvSpPr>
        <p:spPr>
          <a:xfrm>
            <a:off x="6446520" y="5074920"/>
            <a:ext cx="4846320" cy="365760"/>
          </a:xfrm>
          <a:prstGeom prst="rect">
            <a:avLst/>
          </a:prstGeom>
          <a:noFill/>
          <a:ln/>
        </p:spPr>
        <p:txBody>
          <a:bodyPr wrap="square" lIns="0" tIns="0" rIns="0" bIns="0" rtlCol="0" anchor="t"/>
          <a:lstStyle/>
          <a:p>
            <a:pPr indent="0" marL="0">
              <a:buNone/>
            </a:pPr>
            <a:r>
              <a:rPr lang="en-US" sz="1800" b="1" dirty="0">
                <a:solidFill>
                  <a:srgbClr val="1B2B34"/>
                </a:solidFill>
              </a:rPr>
              <a:t>Variance kept by 2 PCA components</a:t>
            </a:r>
            <a:endParaRPr lang="en-US" sz="1800" dirty="0"/>
          </a:p>
        </p:txBody>
      </p:sp>
      <p:sp>
        <p:nvSpPr>
          <p:cNvPr id="19" name="Text 16"/>
          <p:cNvSpPr txBox="1"/>
          <p:nvPr/>
        </p:nvSpPr>
        <p:spPr>
          <a:xfrm>
            <a:off x="6446520" y="5486400"/>
            <a:ext cx="4846320" cy="365760"/>
          </a:xfrm>
          <a:prstGeom prst="rect">
            <a:avLst/>
          </a:prstGeom>
          <a:noFill/>
          <a:ln/>
        </p:spPr>
        <p:txBody>
          <a:bodyPr wrap="square" lIns="0" tIns="0" rIns="0" bIns="0" rtlCol="0" anchor="t"/>
          <a:lstStyle/>
          <a:p>
            <a:pPr indent="0" marL="0">
              <a:buNone/>
            </a:pPr>
            <a:r>
              <a:rPr lang="en-US" sz="1400" dirty="0">
                <a:solidFill>
                  <a:srgbClr val="5B6B73"/>
                </a:solidFill>
              </a:rPr>
              <a:t>Why marketing plots overlap</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What the segments look like</a:t>
            </a:r>
            <a:endParaRPr lang="en-US" sz="3200" dirty="0"/>
          </a:p>
        </p:txBody>
      </p:sp>
      <p:sp>
        <p:nvSpPr>
          <p:cNvPr id="4"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Churn data: 2 segments</a:t>
            </a:r>
            <a:endParaRPr lang="en-US" sz="2000" dirty="0"/>
          </a:p>
        </p:txBody>
      </p:sp>
      <p:sp>
        <p:nvSpPr>
          <p:cNvPr id="5" name="Text 2"/>
          <p:cNvSpPr txBox="1"/>
          <p:nvPr/>
        </p:nvSpPr>
        <p:spPr>
          <a:xfrm>
            <a:off x="548640" y="1691640"/>
            <a:ext cx="5394960" cy="320040"/>
          </a:xfrm>
          <a:prstGeom prst="rect">
            <a:avLst/>
          </a:prstGeom>
          <a:noFill/>
          <a:ln/>
        </p:spPr>
        <p:txBody>
          <a:bodyPr wrap="square" lIns="0" tIns="0" rIns="0" bIns="0" rtlCol="0" anchor="t"/>
          <a:lstStyle/>
          <a:p>
            <a:pPr indent="0" marL="0">
              <a:buNone/>
            </a:pPr>
            <a:r>
              <a:rPr lang="en-US" sz="1400" dirty="0">
                <a:solidFill>
                  <a:srgbClr val="5B6B73"/>
                </a:solidFill>
              </a:rPr>
              <a:t>The Higher-Risk group pays more and is less satisfied.</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394960" cy="914400"/>
        </p:xfrm>
        <a:graphic>
          <a:graphicData uri="http://schemas.openxmlformats.org/drawingml/2006/table">
            <a:tbl>
              <a:tblPr/>
              <a:tblGrid>
                <a:gridCol w="1645920"/>
                <a:gridCol w="1005840"/>
                <a:gridCol w="731520"/>
                <a:gridCol w="914400"/>
                <a:gridCol w="109728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Segment</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Customers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Churn</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Satisf.</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Charge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r>
              <a:tr h="36576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More Satisfied</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94</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6.02</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71.34</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Higher-Risk</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86</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57%</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5.48</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78.48</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bl>
          </a:graphicData>
        </a:graphic>
      </p:graphicFrame>
      <p:graphicFrame>
        <p:nvGraphicFramePr>
          <p:cNvPr id="7" name="Chart 0" descr=""/>
          <p:cNvGraphicFramePr/>
          <p:nvPr/>
        </p:nvGraphicFramePr>
        <p:xfrm>
          <a:off x="548640" y="3566160"/>
          <a:ext cx="5394960" cy="2651760"/>
        </p:xfrm>
        <a:graphic xmlns:a="http://schemas.openxmlformats.org/drawingml/2006/main">
          <a:graphicData uri="http://schemas.openxmlformats.org/drawingml/2006/chart">
            <c:chart xmlns:c="http://schemas.openxmlformats.org/drawingml/2006/chart" r:id="rId1"/>
          </a:graphicData>
        </a:graphic>
      </p:graphicFrame>
      <p:sp>
        <p:nvSpPr>
          <p:cNvPr id="8" name="Text 3"/>
          <p:cNvSpPr txBox="1"/>
          <p:nvPr/>
        </p:nvSpPr>
        <p:spPr>
          <a:xfrm>
            <a:off x="6217920" y="1280160"/>
            <a:ext cx="5486400" cy="365760"/>
          </a:xfrm>
          <a:prstGeom prst="rect">
            <a:avLst/>
          </a:prstGeom>
          <a:noFill/>
          <a:ln/>
        </p:spPr>
        <p:txBody>
          <a:bodyPr wrap="square" lIns="0" tIns="0" rIns="0" bIns="0" rtlCol="0" anchor="t"/>
          <a:lstStyle/>
          <a:p>
            <a:pPr indent="0" marL="0">
              <a:buNone/>
            </a:pPr>
            <a:r>
              <a:rPr lang="en-US" sz="2000" b="1" dirty="0">
                <a:solidFill>
                  <a:srgbClr val="0F4C5C"/>
                </a:solidFill>
                <a:latin typeface="Cambria" pitchFamily="34" charset="0"/>
                <a:ea typeface="Cambria" pitchFamily="34" charset="-122"/>
                <a:cs typeface="Cambria" pitchFamily="34" charset="-120"/>
              </a:rPr>
              <a:t>Marketing data: 3 clusters</a:t>
            </a:r>
            <a:endParaRPr lang="en-US" sz="2000" dirty="0"/>
          </a:p>
        </p:txBody>
      </p:sp>
      <p:sp>
        <p:nvSpPr>
          <p:cNvPr id="9" name="Text 4"/>
          <p:cNvSpPr txBox="1"/>
          <p:nvPr/>
        </p:nvSpPr>
        <p:spPr>
          <a:xfrm>
            <a:off x="6217920" y="1691640"/>
            <a:ext cx="5394960" cy="320040"/>
          </a:xfrm>
          <a:prstGeom prst="rect">
            <a:avLst/>
          </a:prstGeom>
          <a:noFill/>
          <a:ln/>
        </p:spPr>
        <p:txBody>
          <a:bodyPr wrap="square" lIns="0" tIns="0" rIns="0" bIns="0" rtlCol="0" anchor="t"/>
          <a:lstStyle/>
          <a:p>
            <a:pPr indent="0" marL="0">
              <a:buNone/>
            </a:pPr>
            <a:r>
              <a:rPr lang="en-US" sz="1400" dirty="0">
                <a:solidFill>
                  <a:srgbClr val="5B6B73"/>
                </a:solidFill>
              </a:rPr>
              <a:t>Age separates the clusters. Spending does not.</a:t>
            </a:r>
            <a:endParaRPr lang="en-US" sz="14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0" y="2103120"/>
          <a:ext cx="5394960" cy="914400"/>
        </p:xfrm>
        <a:graphic>
          <a:graphicData uri="http://schemas.openxmlformats.org/drawingml/2006/table">
            <a:tbl>
              <a:tblPr/>
              <a:tblGrid>
                <a:gridCol w="731520"/>
                <a:gridCol w="1005840"/>
                <a:gridCol w="822960"/>
                <a:gridCol w="1005840"/>
                <a:gridCol w="182880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Cluster</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Customers</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Avg age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Avg spend</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Device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0F4C5C"/>
                    </a:solidFill>
                  </a:tcPr>
                </a:tc>
              </a:tr>
              <a:tr h="36576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983</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54.96</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1,436</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100% tablet</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3,594</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72.74</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1,437</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Desktop / mobile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B2B3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5,423</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41.78</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1,457</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Desktop / mobile</a:t>
                      </a:r>
                      <a:endParaRPr lang="en-US" sz="1300" dirty="0">
                        <a:latin typeface="Calibri" charset="0"/>
                        <a:ea typeface="Calibri" charset="0"/>
                        <a:cs typeface="Calibri" charset="0"/>
                      </a:endParaRPr>
                    </a:p>
                  </a:txBody>
                  <a:tcPr marL="91440" marR="91440" marT="54864" marB="54864" anchor="ctr">
                    <a:lnL w="9525" cap="flat" cmpd="sng" algn="ctr">
                      <a:solidFill>
                        <a:srgbClr val="D5DEDC"/>
                      </a:solidFill>
                      <a:prstDash val="solid"/>
                      <a:round/>
                      <a:headEnd type="none" w="med" len="med"/>
                      <a:tailEnd type="none" w="med" len="med"/>
                    </a:lnL>
                    <a:lnR w="9525" cap="flat" cmpd="sng" algn="ctr">
                      <a:solidFill>
                        <a:srgbClr val="D5DEDC"/>
                      </a:solidFill>
                      <a:prstDash val="solid"/>
                      <a:round/>
                      <a:headEnd type="none" w="med" len="med"/>
                      <a:tailEnd type="none" w="med" len="med"/>
                    </a:lnR>
                    <a:lnT w="9525" cap="flat" cmpd="sng" algn="ctr">
                      <a:solidFill>
                        <a:srgbClr val="D5DEDC"/>
                      </a:solidFill>
                      <a:prstDash val="solid"/>
                      <a:round/>
                      <a:headEnd type="none" w="med" len="med"/>
                      <a:tailEnd type="none" w="med" len="med"/>
                    </a:lnT>
                    <a:lnB w="9525" cap="flat" cmpd="sng" algn="ctr">
                      <a:solidFill>
                        <a:srgbClr val="D5DEDC"/>
                      </a:solidFill>
                      <a:prstDash val="solid"/>
                      <a:round/>
                      <a:headEnd type="none" w="med" len="med"/>
                      <a:tailEnd type="none" w="med" len="med"/>
                    </a:lnB>
                    <a:solidFill>
                      <a:srgbClr val="FFFFFF"/>
                    </a:solidFill>
                  </a:tcPr>
                </a:tc>
              </a:tr>
            </a:tbl>
          </a:graphicData>
        </a:graphic>
      </p:graphicFrame>
      <p:graphicFrame>
        <p:nvGraphicFramePr>
          <p:cNvPr id="11" name="Chart 1" descr=""/>
          <p:cNvGraphicFramePr/>
          <p:nvPr/>
        </p:nvGraphicFramePr>
        <p:xfrm>
          <a:off x="6217920" y="3749040"/>
          <a:ext cx="5394960" cy="2468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What the results tell us</a:t>
            </a:r>
            <a:endParaRPr lang="en-US" sz="3200" dirty="0"/>
          </a:p>
        </p:txBody>
      </p:sp>
      <p:sp>
        <p:nvSpPr>
          <p:cNvPr id="4" name="num"/>
          <p:cNvSpPr/>
          <p:nvPr/>
        </p:nvSpPr>
        <p:spPr>
          <a:xfrm>
            <a:off x="548640" y="1463040"/>
            <a:ext cx="548640" cy="548640"/>
          </a:xfrm>
          <a:prstGeom prst="ellipse">
            <a:avLst/>
          </a:prstGeom>
          <a:solidFill>
            <a:srgbClr val="0F4C5C"/>
          </a:solidFill>
          <a:ln/>
        </p:spPr>
      </p:sp>
      <p:sp>
        <p:nvSpPr>
          <p:cNvPr id="5"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3"/>
          <p:cNvSpPr txBox="1"/>
          <p:nvPr/>
        </p:nvSpPr>
        <p:spPr>
          <a:xfrm>
            <a:off x="1371600" y="1371600"/>
            <a:ext cx="10241280" cy="365760"/>
          </a:xfrm>
          <a:prstGeom prst="rect">
            <a:avLst/>
          </a:prstGeom>
          <a:noFill/>
          <a:ln/>
        </p:spPr>
        <p:txBody>
          <a:bodyPr wrap="square" lIns="0" tIns="0" rIns="0" bIns="0" rtlCol="0" anchor="t"/>
          <a:lstStyle/>
          <a:p>
            <a:pPr indent="0" marL="0">
              <a:buNone/>
            </a:pPr>
            <a:r>
              <a:rPr lang="en-US" sz="1800" b="1" dirty="0">
                <a:solidFill>
                  <a:srgbClr val="0F4C5C"/>
                </a:solidFill>
              </a:rPr>
              <a:t>Price and satisfaction mark the risky churn group.</a:t>
            </a:r>
            <a:endParaRPr lang="en-US" sz="1800" dirty="0"/>
          </a:p>
        </p:txBody>
      </p:sp>
      <p:sp>
        <p:nvSpPr>
          <p:cNvPr id="7" name="Text 4"/>
          <p:cNvSpPr txBox="1"/>
          <p:nvPr/>
        </p:nvSpPr>
        <p:spPr>
          <a:xfrm>
            <a:off x="1371600" y="1755648"/>
            <a:ext cx="10241280" cy="365760"/>
          </a:xfrm>
          <a:prstGeom prst="rect">
            <a:avLst/>
          </a:prstGeom>
          <a:noFill/>
          <a:ln/>
        </p:spPr>
        <p:txBody>
          <a:bodyPr wrap="square" lIns="0" tIns="0" rIns="0" bIns="0" rtlCol="0" anchor="t"/>
          <a:lstStyle/>
          <a:p>
            <a:pPr indent="0" marL="0">
              <a:buNone/>
            </a:pPr>
            <a:r>
              <a:rPr lang="en-US" sz="1400" dirty="0">
                <a:solidFill>
                  <a:srgbClr val="1B2B34"/>
                </a:solidFill>
              </a:rPr>
              <a:t>Higher-Risk customers pay 78.48 a month vs 71.34, and rate satisfaction 5.48 vs 6.02.</a:t>
            </a:r>
            <a:endParaRPr lang="en-US" sz="1400" dirty="0"/>
          </a:p>
        </p:txBody>
      </p:sp>
      <p:sp>
        <p:nvSpPr>
          <p:cNvPr id="8" name="num"/>
          <p:cNvSpPr/>
          <p:nvPr/>
        </p:nvSpPr>
        <p:spPr>
          <a:xfrm>
            <a:off x="548640" y="2423160"/>
            <a:ext cx="548640" cy="548640"/>
          </a:xfrm>
          <a:prstGeom prst="ellipse">
            <a:avLst/>
          </a:prstGeom>
          <a:solidFill>
            <a:srgbClr val="0F4C5C"/>
          </a:solidFill>
          <a:ln/>
        </p:spPr>
      </p:sp>
      <p:sp>
        <p:nvSpPr>
          <p:cNvPr id="9" name="Text 6"/>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7"/>
          <p:cNvSpPr txBox="1"/>
          <p:nvPr/>
        </p:nvSpPr>
        <p:spPr>
          <a:xfrm>
            <a:off x="1371600" y="2331720"/>
            <a:ext cx="10241280" cy="365760"/>
          </a:xfrm>
          <a:prstGeom prst="rect">
            <a:avLst/>
          </a:prstGeom>
          <a:noFill/>
          <a:ln/>
        </p:spPr>
        <p:txBody>
          <a:bodyPr wrap="square" lIns="0" tIns="0" rIns="0" bIns="0" rtlCol="0" anchor="t"/>
          <a:lstStyle/>
          <a:p>
            <a:pPr indent="0" marL="0">
              <a:buNone/>
            </a:pPr>
            <a:r>
              <a:rPr lang="en-US" sz="1800" b="1" dirty="0">
                <a:solidFill>
                  <a:srgbClr val="0F4C5C"/>
                </a:solidFill>
              </a:rPr>
              <a:t>Age and support calls do not.</a:t>
            </a:r>
            <a:endParaRPr lang="en-US" sz="1800" dirty="0"/>
          </a:p>
        </p:txBody>
      </p:sp>
      <p:sp>
        <p:nvSpPr>
          <p:cNvPr id="11" name="Text 8"/>
          <p:cNvSpPr txBox="1"/>
          <p:nvPr/>
        </p:nvSpPr>
        <p:spPr>
          <a:xfrm>
            <a:off x="1371600" y="2715768"/>
            <a:ext cx="10241280" cy="365760"/>
          </a:xfrm>
          <a:prstGeom prst="rect">
            <a:avLst/>
          </a:prstGeom>
          <a:noFill/>
          <a:ln/>
        </p:spPr>
        <p:txBody>
          <a:bodyPr wrap="square" lIns="0" tIns="0" rIns="0" bIns="0" rtlCol="0" anchor="t"/>
          <a:lstStyle/>
          <a:p>
            <a:pPr indent="0" marL="0">
              <a:buNone/>
            </a:pPr>
            <a:r>
              <a:rPr lang="en-US" sz="1400" dirty="0">
                <a:solidFill>
                  <a:srgbClr val="1B2B34"/>
                </a:solidFill>
              </a:rPr>
              <a:t>Average age is 36.0 vs 36.5 and support calls 3.14 vs 2.97 across the two groups.</a:t>
            </a:r>
            <a:endParaRPr lang="en-US" sz="1400" dirty="0"/>
          </a:p>
        </p:txBody>
      </p:sp>
      <p:sp>
        <p:nvSpPr>
          <p:cNvPr id="12" name="num"/>
          <p:cNvSpPr/>
          <p:nvPr/>
        </p:nvSpPr>
        <p:spPr>
          <a:xfrm>
            <a:off x="548640" y="3383280"/>
            <a:ext cx="548640" cy="548640"/>
          </a:xfrm>
          <a:prstGeom prst="ellipse">
            <a:avLst/>
          </a:prstGeom>
          <a:solidFill>
            <a:srgbClr val="0F4C5C"/>
          </a:solidFill>
          <a:ln/>
        </p:spPr>
      </p:sp>
      <p:sp>
        <p:nvSpPr>
          <p:cNvPr id="13" name="Text 10"/>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1"/>
          <p:cNvSpPr txBox="1"/>
          <p:nvPr/>
        </p:nvSpPr>
        <p:spPr>
          <a:xfrm>
            <a:off x="1371600" y="3291840"/>
            <a:ext cx="10241280" cy="365760"/>
          </a:xfrm>
          <a:prstGeom prst="rect">
            <a:avLst/>
          </a:prstGeom>
          <a:noFill/>
          <a:ln/>
        </p:spPr>
        <p:txBody>
          <a:bodyPr wrap="square" lIns="0" tIns="0" rIns="0" bIns="0" rtlCol="0" anchor="t"/>
          <a:lstStyle/>
          <a:p>
            <a:pPr indent="0" marL="0">
              <a:buNone/>
            </a:pPr>
            <a:r>
              <a:rPr lang="en-US" sz="1800" b="1" dirty="0">
                <a:solidFill>
                  <a:srgbClr val="0F4C5C"/>
                </a:solidFill>
              </a:rPr>
              <a:t>In the marketing data, spending does not split customers.</a:t>
            </a:r>
            <a:endParaRPr lang="en-US" sz="1800" dirty="0"/>
          </a:p>
        </p:txBody>
      </p:sp>
      <p:sp>
        <p:nvSpPr>
          <p:cNvPr id="15" name="Text 12"/>
          <p:cNvSpPr txBox="1"/>
          <p:nvPr/>
        </p:nvSpPr>
        <p:spPr>
          <a:xfrm>
            <a:off x="1371600" y="3675888"/>
            <a:ext cx="10241280" cy="365760"/>
          </a:xfrm>
          <a:prstGeom prst="rect">
            <a:avLst/>
          </a:prstGeom>
          <a:noFill/>
          <a:ln/>
        </p:spPr>
        <p:txBody>
          <a:bodyPr wrap="square" lIns="0" tIns="0" rIns="0" bIns="0" rtlCol="0" anchor="t"/>
          <a:lstStyle/>
          <a:p>
            <a:pPr indent="0" marL="0">
              <a:buNone/>
            </a:pPr>
            <a:r>
              <a:rPr lang="en-US" sz="1400" dirty="0">
                <a:solidFill>
                  <a:srgbClr val="1B2B34"/>
                </a:solidFill>
              </a:rPr>
              <a:t>Average spend is 1,436 to 1,457 in every cluster. Age (42, 55, 73) and device do differ.</a:t>
            </a:r>
            <a:endParaRPr lang="en-US" sz="1400" dirty="0"/>
          </a:p>
        </p:txBody>
      </p:sp>
      <p:sp>
        <p:nvSpPr>
          <p:cNvPr id="16" name="num"/>
          <p:cNvSpPr/>
          <p:nvPr/>
        </p:nvSpPr>
        <p:spPr>
          <a:xfrm>
            <a:off x="548640" y="4343400"/>
            <a:ext cx="548640" cy="548640"/>
          </a:xfrm>
          <a:prstGeom prst="ellipse">
            <a:avLst/>
          </a:prstGeom>
          <a:solidFill>
            <a:srgbClr val="E36414"/>
          </a:solidFill>
          <a:ln/>
        </p:spPr>
      </p:sp>
      <p:sp>
        <p:nvSpPr>
          <p:cNvPr id="17" name="Text 14"/>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5"/>
          <p:cNvSpPr txBox="1"/>
          <p:nvPr/>
        </p:nvSpPr>
        <p:spPr>
          <a:xfrm>
            <a:off x="1371600" y="4251960"/>
            <a:ext cx="10241280" cy="365760"/>
          </a:xfrm>
          <a:prstGeom prst="rect">
            <a:avLst/>
          </a:prstGeom>
          <a:noFill/>
          <a:ln/>
        </p:spPr>
        <p:txBody>
          <a:bodyPr wrap="square" lIns="0" tIns="0" rIns="0" bIns="0" rtlCol="0" anchor="t"/>
          <a:lstStyle/>
          <a:p>
            <a:pPr indent="0" marL="0">
              <a:buNone/>
            </a:pPr>
            <a:r>
              <a:rPr lang="en-US" sz="1800" b="1" dirty="0">
                <a:solidFill>
                  <a:srgbClr val="0F4C5C"/>
                </a:solidFill>
              </a:rPr>
              <a:t>The marketing groups are soft, not sharp.</a:t>
            </a:r>
            <a:endParaRPr lang="en-US" sz="1800" dirty="0"/>
          </a:p>
        </p:txBody>
      </p:sp>
      <p:sp>
        <p:nvSpPr>
          <p:cNvPr id="19" name="Text 16"/>
          <p:cNvSpPr txBox="1"/>
          <p:nvPr/>
        </p:nvSpPr>
        <p:spPr>
          <a:xfrm>
            <a:off x="1371600" y="4636008"/>
            <a:ext cx="10241280" cy="365760"/>
          </a:xfrm>
          <a:prstGeom prst="rect">
            <a:avLst/>
          </a:prstGeom>
          <a:noFill/>
          <a:ln/>
        </p:spPr>
        <p:txBody>
          <a:bodyPr wrap="square" lIns="0" tIns="0" rIns="0" bIns="0" rtlCol="0" anchor="t"/>
          <a:lstStyle/>
          <a:p>
            <a:pPr indent="0" marL="0">
              <a:buNone/>
            </a:pPr>
            <a:r>
              <a:rPr lang="en-US" sz="1400" dirty="0">
                <a:solidFill>
                  <a:srgbClr val="1B2B34"/>
                </a:solidFill>
              </a:rPr>
              <a:t>Silhouette stays at or below 0.0436 and 2 PCA components keep only 7.6% of the variance.</a:t>
            </a:r>
            <a:endParaRPr lang="en-US" sz="1400" dirty="0"/>
          </a:p>
        </p:txBody>
      </p:sp>
      <p:sp>
        <p:nvSpPr>
          <p:cNvPr id="20" name="num"/>
          <p:cNvSpPr/>
          <p:nvPr/>
        </p:nvSpPr>
        <p:spPr>
          <a:xfrm>
            <a:off x="548640" y="5303520"/>
            <a:ext cx="548640" cy="548640"/>
          </a:xfrm>
          <a:prstGeom prst="ellipse">
            <a:avLst/>
          </a:prstGeom>
          <a:solidFill>
            <a:srgbClr val="0F4C5C"/>
          </a:solidFill>
          <a:ln/>
        </p:spPr>
      </p:sp>
      <p:sp>
        <p:nvSpPr>
          <p:cNvPr id="21" name="Text 18"/>
          <p:cNvSpPr txBox="1"/>
          <p:nvPr/>
        </p:nvSpPr>
        <p:spPr>
          <a:xfrm>
            <a:off x="548640" y="5303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19"/>
          <p:cNvSpPr txBox="1"/>
          <p:nvPr/>
        </p:nvSpPr>
        <p:spPr>
          <a:xfrm>
            <a:off x="1371600" y="5212080"/>
            <a:ext cx="10241280" cy="365760"/>
          </a:xfrm>
          <a:prstGeom prst="rect">
            <a:avLst/>
          </a:prstGeom>
          <a:noFill/>
          <a:ln/>
        </p:spPr>
        <p:txBody>
          <a:bodyPr wrap="square" lIns="0" tIns="0" rIns="0" bIns="0" rtlCol="0" anchor="t"/>
          <a:lstStyle/>
          <a:p>
            <a:pPr indent="0" marL="0">
              <a:buNone/>
            </a:pPr>
            <a:r>
              <a:rPr lang="en-US" sz="1800" b="1" dirty="0">
                <a:solidFill>
                  <a:srgbClr val="0F4C5C"/>
                </a:solidFill>
              </a:rPr>
              <a:t>The method changes the story.</a:t>
            </a:r>
            <a:endParaRPr lang="en-US" sz="1800" dirty="0"/>
          </a:p>
        </p:txBody>
      </p:sp>
      <p:sp>
        <p:nvSpPr>
          <p:cNvPr id="23" name="Text 20"/>
          <p:cNvSpPr txBox="1"/>
          <p:nvPr/>
        </p:nvSpPr>
        <p:spPr>
          <a:xfrm>
            <a:off x="1371600" y="5596128"/>
            <a:ext cx="10241280" cy="365760"/>
          </a:xfrm>
          <a:prstGeom prst="rect">
            <a:avLst/>
          </a:prstGeom>
          <a:noFill/>
          <a:ln/>
        </p:spPr>
        <p:txBody>
          <a:bodyPr wrap="square" lIns="0" tIns="0" rIns="0" bIns="0" rtlCol="0" anchor="t"/>
          <a:lstStyle/>
          <a:p>
            <a:pPr indent="0" marL="0">
              <a:buNone/>
            </a:pPr>
            <a:r>
              <a:rPr lang="en-US" sz="1400" dirty="0">
                <a:solidFill>
                  <a:srgbClr val="1B2B34"/>
                </a:solidFill>
              </a:rPr>
              <a:t>Hierarchical puts 83% in one cluster, DBSCAN flags 17.66% as noise, K-Means splits 10 / 36 / 54.</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F4C5C"/>
                </a:solidFill>
              </a:rPr>
              <a:t>Recommendations</a:t>
            </a:r>
            <a:endParaRPr lang="en-US" sz="3200" dirty="0"/>
          </a:p>
        </p:txBody>
      </p:sp>
      <p:sp>
        <p:nvSpPr>
          <p:cNvPr id="4" name="card"/>
          <p:cNvSpPr/>
          <p:nvPr/>
        </p:nvSpPr>
        <p:spPr>
          <a:xfrm>
            <a:off x="548640" y="1371600"/>
            <a:ext cx="5440680" cy="2194560"/>
          </a:xfrm>
          <a:prstGeom prst="roundRect">
            <a:avLst>
              <a:gd name="adj" fmla="val 3333"/>
            </a:avLst>
          </a:prstGeom>
          <a:solidFill>
            <a:srgbClr val="FFFFFF"/>
          </a:solidFill>
          <a:ln w="9525">
            <a:solidFill>
              <a:srgbClr val="D5DEDC"/>
            </a:solidFill>
            <a:prstDash val="solid"/>
          </a:ln>
        </p:spPr>
      </p:sp>
      <p:sp>
        <p:nvSpPr>
          <p:cNvPr id="5" name="Text 2"/>
          <p:cNvSpPr txBox="1"/>
          <p:nvPr/>
        </p:nvSpPr>
        <p:spPr>
          <a:xfrm>
            <a:off x="822960" y="1600200"/>
            <a:ext cx="457200" cy="365760"/>
          </a:xfrm>
          <a:prstGeom prst="rect">
            <a:avLst/>
          </a:prstGeom>
          <a:noFill/>
          <a:ln/>
        </p:spPr>
        <p:txBody>
          <a:bodyPr wrap="square" lIns="0" tIns="0" rIns="0" bIns="0" rtlCol="0" anchor="t"/>
          <a:lstStyle/>
          <a:p>
            <a:pPr indent="0" marL="0">
              <a:buNone/>
            </a:pPr>
            <a:r>
              <a:rPr lang="en-US" sz="2000" b="1" dirty="0">
                <a:solidFill>
                  <a:srgbClr val="E36414"/>
                </a:solidFill>
                <a:latin typeface="Cambria" pitchFamily="34" charset="0"/>
                <a:ea typeface="Cambria" pitchFamily="34" charset="-122"/>
                <a:cs typeface="Cambria" pitchFamily="34" charset="-120"/>
              </a:rPr>
              <a:t>1</a:t>
            </a:r>
            <a:endParaRPr lang="en-US" sz="2000" dirty="0"/>
          </a:p>
        </p:txBody>
      </p:sp>
      <p:sp>
        <p:nvSpPr>
          <p:cNvPr id="6" name="Text 3"/>
          <p:cNvSpPr txBox="1"/>
          <p:nvPr/>
        </p:nvSpPr>
        <p:spPr>
          <a:xfrm>
            <a:off x="1280160" y="1600200"/>
            <a:ext cx="4480560" cy="411480"/>
          </a:xfrm>
          <a:prstGeom prst="rect">
            <a:avLst/>
          </a:prstGeom>
          <a:noFill/>
          <a:ln/>
        </p:spPr>
        <p:txBody>
          <a:bodyPr wrap="square" lIns="0" tIns="0" rIns="0" bIns="0" rtlCol="0" anchor="t"/>
          <a:lstStyle/>
          <a:p>
            <a:pPr indent="0" marL="0">
              <a:buNone/>
            </a:pPr>
            <a:r>
              <a:rPr lang="en-US" sz="1800" b="1" dirty="0">
                <a:solidFill>
                  <a:srgbClr val="0F4C5C"/>
                </a:solidFill>
              </a:rPr>
              <a:t>Watch price and satisfaction</a:t>
            </a:r>
            <a:endParaRPr lang="en-US" sz="1800" dirty="0"/>
          </a:p>
        </p:txBody>
      </p:sp>
      <p:sp>
        <p:nvSpPr>
          <p:cNvPr id="7" name="Text 4"/>
          <p:cNvSpPr txBox="1"/>
          <p:nvPr/>
        </p:nvSpPr>
        <p:spPr>
          <a:xfrm>
            <a:off x="1280160" y="2148840"/>
            <a:ext cx="4480560" cy="1280160"/>
          </a:xfrm>
          <a:prstGeom prst="rect">
            <a:avLst/>
          </a:prstGeom>
          <a:noFill/>
          <a:ln/>
        </p:spPr>
        <p:txBody>
          <a:bodyPr wrap="square" lIns="0" tIns="0" rIns="0" bIns="0" rtlCol="0" anchor="t"/>
          <a:lstStyle/>
          <a:p>
            <a:pPr indent="0" marL="0">
              <a:buNone/>
            </a:pPr>
            <a:r>
              <a:rPr lang="en-US" sz="1600" dirty="0">
                <a:solidFill>
                  <a:srgbClr val="1B2B34"/>
                </a:solidFill>
              </a:rPr>
              <a:t>Review retention offers for customers with higher monthly charges and lower satisfaction. That segment churns at 57%.</a:t>
            </a:r>
            <a:endParaRPr lang="en-US" sz="1600" dirty="0"/>
          </a:p>
        </p:txBody>
      </p:sp>
      <p:sp>
        <p:nvSpPr>
          <p:cNvPr id="8" name="card"/>
          <p:cNvSpPr/>
          <p:nvPr/>
        </p:nvSpPr>
        <p:spPr>
          <a:xfrm>
            <a:off x="6172200" y="1371600"/>
            <a:ext cx="5440680" cy="2194560"/>
          </a:xfrm>
          <a:prstGeom prst="roundRect">
            <a:avLst>
              <a:gd name="adj" fmla="val 3333"/>
            </a:avLst>
          </a:prstGeom>
          <a:solidFill>
            <a:srgbClr val="FFFFFF"/>
          </a:solidFill>
          <a:ln w="9525">
            <a:solidFill>
              <a:srgbClr val="D5DEDC"/>
            </a:solidFill>
            <a:prstDash val="solid"/>
          </a:ln>
        </p:spPr>
      </p:sp>
      <p:sp>
        <p:nvSpPr>
          <p:cNvPr id="9" name="Text 6"/>
          <p:cNvSpPr txBox="1"/>
          <p:nvPr/>
        </p:nvSpPr>
        <p:spPr>
          <a:xfrm>
            <a:off x="6446520" y="1600200"/>
            <a:ext cx="457200" cy="365760"/>
          </a:xfrm>
          <a:prstGeom prst="rect">
            <a:avLst/>
          </a:prstGeom>
          <a:noFill/>
          <a:ln/>
        </p:spPr>
        <p:txBody>
          <a:bodyPr wrap="square" lIns="0" tIns="0" rIns="0" bIns="0" rtlCol="0" anchor="t"/>
          <a:lstStyle/>
          <a:p>
            <a:pPr indent="0" marL="0">
              <a:buNone/>
            </a:pPr>
            <a:r>
              <a:rPr lang="en-US" sz="2000" b="1" dirty="0">
                <a:solidFill>
                  <a:srgbClr val="E36414"/>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6903720" y="1600200"/>
            <a:ext cx="4480560" cy="411480"/>
          </a:xfrm>
          <a:prstGeom prst="rect">
            <a:avLst/>
          </a:prstGeom>
          <a:noFill/>
          <a:ln/>
        </p:spPr>
        <p:txBody>
          <a:bodyPr wrap="square" lIns="0" tIns="0" rIns="0" bIns="0" rtlCol="0" anchor="t"/>
          <a:lstStyle/>
          <a:p>
            <a:pPr indent="0" marL="0">
              <a:buNone/>
            </a:pPr>
            <a:r>
              <a:rPr lang="en-US" sz="1800" b="1" dirty="0">
                <a:solidFill>
                  <a:srgbClr val="0F4C5C"/>
                </a:solidFill>
              </a:rPr>
              <a:t>Do not target by spending clusters</a:t>
            </a:r>
            <a:endParaRPr lang="en-US" sz="1800" dirty="0"/>
          </a:p>
        </p:txBody>
      </p:sp>
      <p:sp>
        <p:nvSpPr>
          <p:cNvPr id="11" name="Text 8"/>
          <p:cNvSpPr txBox="1"/>
          <p:nvPr/>
        </p:nvSpPr>
        <p:spPr>
          <a:xfrm>
            <a:off x="6903720" y="2148840"/>
            <a:ext cx="4480560" cy="1280160"/>
          </a:xfrm>
          <a:prstGeom prst="rect">
            <a:avLst/>
          </a:prstGeom>
          <a:noFill/>
          <a:ln/>
        </p:spPr>
        <p:txBody>
          <a:bodyPr wrap="square" lIns="0" tIns="0" rIns="0" bIns="0" rtlCol="0" anchor="t"/>
          <a:lstStyle/>
          <a:p>
            <a:pPr indent="0" marL="0">
              <a:buNone/>
            </a:pPr>
            <a:r>
              <a:rPr lang="en-US" sz="1600" dirty="0">
                <a:solidFill>
                  <a:srgbClr val="1B2B34"/>
                </a:solidFill>
              </a:rPr>
              <a:t>Spending is flat across marketing clusters. Test messages by age group and device instead, such as the tablet-only cluster.</a:t>
            </a:r>
            <a:endParaRPr lang="en-US" sz="1600" dirty="0"/>
          </a:p>
        </p:txBody>
      </p:sp>
      <p:sp>
        <p:nvSpPr>
          <p:cNvPr id="12" name="card"/>
          <p:cNvSpPr/>
          <p:nvPr/>
        </p:nvSpPr>
        <p:spPr>
          <a:xfrm>
            <a:off x="548640" y="3840480"/>
            <a:ext cx="5440680" cy="2194560"/>
          </a:xfrm>
          <a:prstGeom prst="roundRect">
            <a:avLst>
              <a:gd name="adj" fmla="val 3333"/>
            </a:avLst>
          </a:prstGeom>
          <a:solidFill>
            <a:srgbClr val="FFFFFF"/>
          </a:solidFill>
          <a:ln w="9525">
            <a:solidFill>
              <a:srgbClr val="D5DEDC"/>
            </a:solidFill>
            <a:prstDash val="solid"/>
          </a:ln>
        </p:spPr>
      </p:sp>
      <p:sp>
        <p:nvSpPr>
          <p:cNvPr id="13" name="Text 10"/>
          <p:cNvSpPr txBox="1"/>
          <p:nvPr/>
        </p:nvSpPr>
        <p:spPr>
          <a:xfrm>
            <a:off x="822960" y="4069080"/>
            <a:ext cx="457200" cy="365760"/>
          </a:xfrm>
          <a:prstGeom prst="rect">
            <a:avLst/>
          </a:prstGeom>
          <a:noFill/>
          <a:ln/>
        </p:spPr>
        <p:txBody>
          <a:bodyPr wrap="square" lIns="0" tIns="0" rIns="0" bIns="0" rtlCol="0" anchor="t"/>
          <a:lstStyle/>
          <a:p>
            <a:pPr indent="0" marL="0">
              <a:buNone/>
            </a:pPr>
            <a:r>
              <a:rPr lang="en-US" sz="2000" b="1" dirty="0">
                <a:solidFill>
                  <a:srgbClr val="E36414"/>
                </a:solidFill>
                <a:latin typeface="Cambria" pitchFamily="34" charset="0"/>
                <a:ea typeface="Cambria" pitchFamily="34" charset="-122"/>
                <a:cs typeface="Cambria" pitchFamily="34" charset="-120"/>
              </a:rPr>
              <a:t>3</a:t>
            </a:r>
            <a:endParaRPr lang="en-US" sz="2000" dirty="0"/>
          </a:p>
        </p:txBody>
      </p:sp>
      <p:sp>
        <p:nvSpPr>
          <p:cNvPr id="14" name="Text 11"/>
          <p:cNvSpPr txBox="1"/>
          <p:nvPr/>
        </p:nvSpPr>
        <p:spPr>
          <a:xfrm>
            <a:off x="1280160" y="4069080"/>
            <a:ext cx="4480560" cy="411480"/>
          </a:xfrm>
          <a:prstGeom prst="rect">
            <a:avLst/>
          </a:prstGeom>
          <a:noFill/>
          <a:ln/>
        </p:spPr>
        <p:txBody>
          <a:bodyPr wrap="square" lIns="0" tIns="0" rIns="0" bIns="0" rtlCol="0" anchor="t"/>
          <a:lstStyle/>
          <a:p>
            <a:pPr indent="0" marL="0">
              <a:buNone/>
            </a:pPr>
            <a:r>
              <a:rPr lang="en-US" sz="1800" b="1" dirty="0">
                <a:solidFill>
                  <a:srgbClr val="0F4C5C"/>
                </a:solidFill>
              </a:rPr>
              <a:t>Validate before rolling out</a:t>
            </a:r>
            <a:endParaRPr lang="en-US" sz="1800" dirty="0"/>
          </a:p>
        </p:txBody>
      </p:sp>
      <p:sp>
        <p:nvSpPr>
          <p:cNvPr id="15" name="Text 12"/>
          <p:cNvSpPr txBox="1"/>
          <p:nvPr/>
        </p:nvSpPr>
        <p:spPr>
          <a:xfrm>
            <a:off x="1280160" y="4617720"/>
            <a:ext cx="4480560" cy="1280160"/>
          </a:xfrm>
          <a:prstGeom prst="rect">
            <a:avLst/>
          </a:prstGeom>
          <a:noFill/>
          <a:ln/>
        </p:spPr>
        <p:txBody>
          <a:bodyPr wrap="square" lIns="0" tIns="0" rIns="0" bIns="0" rtlCol="0" anchor="t"/>
          <a:lstStyle/>
          <a:p>
            <a:pPr indent="0" marL="0">
              <a:buNone/>
            </a:pPr>
            <a:r>
              <a:rPr lang="en-US" sz="1600" dirty="0">
                <a:solidFill>
                  <a:srgbClr val="1B2B34"/>
                </a:solidFill>
              </a:rPr>
              <a:t>Silhouette scores are low. Run a small campaign test on a segment before acting on it at scale.</a:t>
            </a:r>
            <a:endParaRPr lang="en-US" sz="1600" dirty="0"/>
          </a:p>
        </p:txBody>
      </p:sp>
      <p:sp>
        <p:nvSpPr>
          <p:cNvPr id="16" name="card"/>
          <p:cNvSpPr/>
          <p:nvPr/>
        </p:nvSpPr>
        <p:spPr>
          <a:xfrm>
            <a:off x="6172200" y="3840480"/>
            <a:ext cx="5440680" cy="2194560"/>
          </a:xfrm>
          <a:prstGeom prst="roundRect">
            <a:avLst>
              <a:gd name="adj" fmla="val 3333"/>
            </a:avLst>
          </a:prstGeom>
          <a:solidFill>
            <a:srgbClr val="FFFFFF"/>
          </a:solidFill>
          <a:ln w="9525">
            <a:solidFill>
              <a:srgbClr val="D5DEDC"/>
            </a:solidFill>
            <a:prstDash val="solid"/>
          </a:ln>
        </p:spPr>
      </p:sp>
      <p:sp>
        <p:nvSpPr>
          <p:cNvPr id="17" name="Text 14"/>
          <p:cNvSpPr txBox="1"/>
          <p:nvPr/>
        </p:nvSpPr>
        <p:spPr>
          <a:xfrm>
            <a:off x="6446520" y="4069080"/>
            <a:ext cx="457200" cy="365760"/>
          </a:xfrm>
          <a:prstGeom prst="rect">
            <a:avLst/>
          </a:prstGeom>
          <a:noFill/>
          <a:ln/>
        </p:spPr>
        <p:txBody>
          <a:bodyPr wrap="square" lIns="0" tIns="0" rIns="0" bIns="0" rtlCol="0" anchor="t"/>
          <a:lstStyle/>
          <a:p>
            <a:pPr indent="0" marL="0">
              <a:buNone/>
            </a:pPr>
            <a:r>
              <a:rPr lang="en-US" sz="2000" b="1" dirty="0">
                <a:solidFill>
                  <a:srgbClr val="E36414"/>
                </a:solidFill>
                <a:latin typeface="Cambria" pitchFamily="34" charset="0"/>
                <a:ea typeface="Cambria" pitchFamily="34" charset="-122"/>
                <a:cs typeface="Cambria" pitchFamily="34" charset="-120"/>
              </a:rPr>
              <a:t>4</a:t>
            </a:r>
            <a:endParaRPr lang="en-US" sz="2000" dirty="0"/>
          </a:p>
        </p:txBody>
      </p:sp>
      <p:sp>
        <p:nvSpPr>
          <p:cNvPr id="18" name="Text 15"/>
          <p:cNvSpPr txBox="1"/>
          <p:nvPr/>
        </p:nvSpPr>
        <p:spPr>
          <a:xfrm>
            <a:off x="6903720" y="4069080"/>
            <a:ext cx="4480560" cy="411480"/>
          </a:xfrm>
          <a:prstGeom prst="rect">
            <a:avLst/>
          </a:prstGeom>
          <a:noFill/>
          <a:ln/>
        </p:spPr>
        <p:txBody>
          <a:bodyPr wrap="square" lIns="0" tIns="0" rIns="0" bIns="0" rtlCol="0" anchor="t"/>
          <a:lstStyle/>
          <a:p>
            <a:pPr indent="0" marL="0">
              <a:buNone/>
            </a:pPr>
            <a:r>
              <a:rPr lang="en-US" sz="1800" b="1" dirty="0">
                <a:solidFill>
                  <a:srgbClr val="0F4C5C"/>
                </a:solidFill>
              </a:rPr>
              <a:t>Bring the churn label back in</a:t>
            </a:r>
            <a:endParaRPr lang="en-US" sz="1800" dirty="0"/>
          </a:p>
        </p:txBody>
      </p:sp>
      <p:sp>
        <p:nvSpPr>
          <p:cNvPr id="19" name="Text 16"/>
          <p:cNvSpPr txBox="1"/>
          <p:nvPr/>
        </p:nvSpPr>
        <p:spPr>
          <a:xfrm>
            <a:off x="6903720" y="4617720"/>
            <a:ext cx="4480560" cy="1280160"/>
          </a:xfrm>
          <a:prstGeom prst="rect">
            <a:avLst/>
          </a:prstGeom>
          <a:noFill/>
          <a:ln/>
        </p:spPr>
        <p:txBody>
          <a:bodyPr wrap="square" lIns="0" tIns="0" rIns="0" bIns="0" rtlCol="0" anchor="t"/>
          <a:lstStyle/>
          <a:p>
            <a:pPr indent="0" marL="0">
              <a:buNone/>
            </a:pPr>
            <a:r>
              <a:rPr lang="en-US" sz="1600" dirty="0">
                <a:solidFill>
                  <a:srgbClr val="1B2B34"/>
                </a:solidFill>
              </a:rPr>
              <a:t>Churn was held out of clustering. A supervised model on the same cleaned data could predict churn directly.</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rPr>
              <a:t>Conclusion</a:t>
            </a:r>
            <a:endParaRPr lang="en-US" sz="3200" dirty="0"/>
          </a:p>
        </p:txBody>
      </p:sp>
      <p:sp>
        <p:nvSpPr>
          <p:cNvPr id="4" name="card"/>
          <p:cNvSpPr/>
          <p:nvPr/>
        </p:nvSpPr>
        <p:spPr>
          <a:xfrm>
            <a:off x="548640" y="1463040"/>
            <a:ext cx="3566160" cy="3840480"/>
          </a:xfrm>
          <a:prstGeom prst="roundRect">
            <a:avLst>
              <a:gd name="adj" fmla="val 2051"/>
            </a:avLst>
          </a:prstGeom>
          <a:solidFill>
            <a:srgbClr val="FFFFFF">
              <a:alpha val="10000"/>
            </a:srgbClr>
          </a:solidFill>
          <a:ln w="9525">
            <a:solidFill>
              <a:srgbClr val="9DB8BC"/>
            </a:solidFill>
            <a:prstDash val="solid"/>
          </a:ln>
        </p:spPr>
      </p:sp>
      <p:sp>
        <p:nvSpPr>
          <p:cNvPr id="5" name="Text 2"/>
          <p:cNvSpPr txBox="1"/>
          <p:nvPr/>
        </p:nvSpPr>
        <p:spPr>
          <a:xfrm>
            <a:off x="822960" y="1737360"/>
            <a:ext cx="30175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What we did</a:t>
            </a:r>
            <a:endParaRPr lang="en-US" sz="2200" dirty="0"/>
          </a:p>
        </p:txBody>
      </p:sp>
      <p:sp>
        <p:nvSpPr>
          <p:cNvPr id="6" name="Text 3"/>
          <p:cNvSpPr txBox="1"/>
          <p:nvPr/>
        </p:nvSpPr>
        <p:spPr>
          <a:xfrm>
            <a:off x="822960" y="2377440"/>
            <a:ext cx="3017520" cy="2834640"/>
          </a:xfrm>
          <a:prstGeom prst="rect">
            <a:avLst/>
          </a:prstGeom>
          <a:noFill/>
          <a:ln/>
        </p:spPr>
        <p:txBody>
          <a:bodyPr wrap="square" lIns="0" tIns="0" rIns="0" bIns="0" rtlCol="0" anchor="t"/>
          <a:lstStyle/>
          <a:p>
            <a:pPr indent="0" marL="0">
              <a:buNone/>
            </a:pPr>
            <a:r>
              <a:rPr lang="en-US" sz="1800" dirty="0">
                <a:solidFill>
                  <a:srgbClr val="E3EEEC"/>
                </a:solidFill>
              </a:rPr>
              <a:t>Cleaned two customer datasets and clustered them with K-Means, Hierarchical and DBSCAN. We compared the methods using Silhouette Score and profiled each group.</a:t>
            </a:r>
            <a:endParaRPr lang="en-US" sz="1800" dirty="0"/>
          </a:p>
        </p:txBody>
      </p:sp>
      <p:sp>
        <p:nvSpPr>
          <p:cNvPr id="7" name="card"/>
          <p:cNvSpPr/>
          <p:nvPr/>
        </p:nvSpPr>
        <p:spPr>
          <a:xfrm>
            <a:off x="4297680" y="1463040"/>
            <a:ext cx="3566160" cy="3840480"/>
          </a:xfrm>
          <a:prstGeom prst="roundRect">
            <a:avLst>
              <a:gd name="adj" fmla="val 2051"/>
            </a:avLst>
          </a:prstGeom>
          <a:solidFill>
            <a:srgbClr val="FFFFFF">
              <a:alpha val="10000"/>
            </a:srgbClr>
          </a:solidFill>
          <a:ln w="9525">
            <a:solidFill>
              <a:srgbClr val="9DB8BC"/>
            </a:solidFill>
            <a:prstDash val="solid"/>
          </a:ln>
        </p:spPr>
      </p:sp>
      <p:sp>
        <p:nvSpPr>
          <p:cNvPr id="8" name="Text 5"/>
          <p:cNvSpPr txBox="1"/>
          <p:nvPr/>
        </p:nvSpPr>
        <p:spPr>
          <a:xfrm>
            <a:off x="4572000" y="1737360"/>
            <a:ext cx="30175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What we found</a:t>
            </a:r>
            <a:endParaRPr lang="en-US" sz="2200" dirty="0"/>
          </a:p>
        </p:txBody>
      </p:sp>
      <p:sp>
        <p:nvSpPr>
          <p:cNvPr id="9" name="Text 6"/>
          <p:cNvSpPr txBox="1"/>
          <p:nvPr/>
        </p:nvSpPr>
        <p:spPr>
          <a:xfrm>
            <a:off x="4572000" y="2377440"/>
            <a:ext cx="3017520" cy="2834640"/>
          </a:xfrm>
          <a:prstGeom prst="rect">
            <a:avLst/>
          </a:prstGeom>
          <a:noFill/>
          <a:ln/>
        </p:spPr>
        <p:txBody>
          <a:bodyPr wrap="square" lIns="0" tIns="0" rIns="0" bIns="0" rtlCol="0" anchor="t"/>
          <a:lstStyle/>
          <a:p>
            <a:pPr indent="0" marL="0">
              <a:buNone/>
            </a:pPr>
            <a:r>
              <a:rPr lang="en-US" sz="1800" dirty="0">
                <a:solidFill>
                  <a:srgbClr val="E3EEEC"/>
                </a:solidFill>
              </a:rPr>
              <a:t>Churn data: K-Means gave two groups (silhouette 0.400); the Higher-Risk group churns at 57% vs 48%. Marketing data: scores stayed below 0.05.</a:t>
            </a:r>
            <a:endParaRPr lang="en-US" sz="1800" dirty="0"/>
          </a:p>
        </p:txBody>
      </p:sp>
      <p:sp>
        <p:nvSpPr>
          <p:cNvPr id="10" name="card"/>
          <p:cNvSpPr/>
          <p:nvPr/>
        </p:nvSpPr>
        <p:spPr>
          <a:xfrm>
            <a:off x="8046720" y="1463040"/>
            <a:ext cx="3566160" cy="3840480"/>
          </a:xfrm>
          <a:prstGeom prst="roundRect">
            <a:avLst>
              <a:gd name="adj" fmla="val 2051"/>
            </a:avLst>
          </a:prstGeom>
          <a:solidFill>
            <a:srgbClr val="FFFFFF">
              <a:alpha val="10000"/>
            </a:srgbClr>
          </a:solidFill>
          <a:ln w="9525">
            <a:solidFill>
              <a:srgbClr val="9DB8BC"/>
            </a:solidFill>
            <a:prstDash val="solid"/>
          </a:ln>
        </p:spPr>
      </p:sp>
      <p:sp>
        <p:nvSpPr>
          <p:cNvPr id="11" name="Text 8"/>
          <p:cNvSpPr txBox="1"/>
          <p:nvPr/>
        </p:nvSpPr>
        <p:spPr>
          <a:xfrm>
            <a:off x="8321040" y="1737360"/>
            <a:ext cx="30175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What it means</a:t>
            </a:r>
            <a:endParaRPr lang="en-US" sz="2200" dirty="0"/>
          </a:p>
        </p:txBody>
      </p:sp>
      <p:sp>
        <p:nvSpPr>
          <p:cNvPr id="12" name="Text 9"/>
          <p:cNvSpPr txBox="1"/>
          <p:nvPr/>
        </p:nvSpPr>
        <p:spPr>
          <a:xfrm>
            <a:off x="8321040" y="2377440"/>
            <a:ext cx="3017520" cy="2834640"/>
          </a:xfrm>
          <a:prstGeom prst="rect">
            <a:avLst/>
          </a:prstGeom>
          <a:noFill/>
          <a:ln/>
        </p:spPr>
        <p:txBody>
          <a:bodyPr wrap="square" lIns="0" tIns="0" rIns="0" bIns="0" rtlCol="0" anchor="t"/>
          <a:lstStyle/>
          <a:p>
            <a:pPr indent="0" marL="0">
              <a:buNone/>
            </a:pPr>
            <a:r>
              <a:rPr lang="en-US" sz="1800" dirty="0">
                <a:solidFill>
                  <a:srgbClr val="E3EEEC"/>
                </a:solidFill>
              </a:rPr>
              <a:t>Clustering works best when features carry real group differences. In the marketing data, age and device differ across clusters, spending does not.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315200" cy="1097280"/>
          </a:xfrm>
          <a:prstGeom prst="rect">
            <a:avLst/>
          </a:prstGeom>
          <a:noFill/>
          <a:ln/>
        </p:spPr>
        <p:txBody>
          <a:bodyPr wrap="square" lIns="0" tIns="0" rIns="0" bIns="0" rtlCol="0" anchor="ctr"/>
          <a:lstStyle/>
          <a:p>
            <a:pPr algn="l" indent="0" marL="0">
              <a:buNone/>
            </a:pPr>
            <a:r>
              <a:rPr lang="en-US" sz="5400" b="1" dirty="0">
                <a:solidFill>
                  <a:srgbClr val="FFFFFF"/>
                </a:solidFill>
              </a:rPr>
              <a:t>Thank You</a:t>
            </a:r>
            <a:endParaRPr lang="en-US" sz="5400" dirty="0"/>
          </a:p>
        </p:txBody>
      </p:sp>
      <p:sp>
        <p:nvSpPr>
          <p:cNvPr id="3" name="Text 1"/>
          <p:cNvSpPr txBox="1"/>
          <p:nvPr/>
        </p:nvSpPr>
        <p:spPr>
          <a:xfrm>
            <a:off x="731520" y="3200400"/>
            <a:ext cx="5486400" cy="731520"/>
          </a:xfrm>
          <a:prstGeom prst="rect">
            <a:avLst/>
          </a:prstGeom>
          <a:noFill/>
          <a:ln/>
        </p:spPr>
        <p:txBody>
          <a:bodyPr wrap="square" lIns="0" tIns="0" rIns="0" bIns="0" rtlCol="0" anchor="t"/>
          <a:lstStyle/>
          <a:p>
            <a:pPr indent="0" marL="0">
              <a:buNone/>
            </a:pPr>
            <a:r>
              <a:rPr lang="en-US" sz="3200" b="1" dirty="0">
                <a:solidFill>
                  <a:srgbClr val="E36414"/>
                </a:solidFill>
                <a:latin typeface="Cambria" pitchFamily="34" charset="0"/>
                <a:ea typeface="Cambria" pitchFamily="34" charset="-122"/>
                <a:cs typeface="Cambria" pitchFamily="34" charset="-120"/>
              </a:rPr>
              <a:t>Questions?</a:t>
            </a:r>
            <a:endParaRPr lang="en-US" sz="3200" dirty="0"/>
          </a:p>
        </p:txBody>
      </p:sp>
      <p:sp>
        <p:nvSpPr>
          <p:cNvPr id="4" name="Text 2"/>
          <p:cNvSpPr txBox="1"/>
          <p:nvPr/>
        </p:nvSpPr>
        <p:spPr>
          <a:xfrm>
            <a:off x="731520" y="5120640"/>
            <a:ext cx="7315200" cy="365760"/>
          </a:xfrm>
          <a:prstGeom prst="rect">
            <a:avLst/>
          </a:prstGeom>
          <a:noFill/>
          <a:ln/>
        </p:spPr>
        <p:txBody>
          <a:bodyPr wrap="square" lIns="0" tIns="0" rIns="0" bIns="0" rtlCol="0" anchor="t"/>
          <a:lstStyle/>
          <a:p>
            <a:pPr indent="0" marL="0">
              <a:buNone/>
            </a:pPr>
            <a:r>
              <a:rPr lang="en-US" sz="1600" dirty="0">
                <a:solidFill>
                  <a:srgbClr val="CFE3E0"/>
                </a:solidFill>
              </a:rPr>
              <a:t>Team Madhu  |  Yatheesh  |  Koteswarao</a:t>
            </a:r>
            <a:endParaRPr lang="en-US" sz="1600" dirty="0"/>
          </a:p>
        </p:txBody>
      </p:sp>
      <p:sp>
        <p:nvSpPr>
          <p:cNvPr id="5" name="Text 3"/>
          <p:cNvSpPr txBox="1"/>
          <p:nvPr/>
        </p:nvSpPr>
        <p:spPr>
          <a:xfrm>
            <a:off x="731520" y="6126480"/>
            <a:ext cx="5486400" cy="320040"/>
          </a:xfrm>
          <a:prstGeom prst="rect">
            <a:avLst/>
          </a:prstGeom>
          <a:noFill/>
          <a:ln/>
        </p:spPr>
        <p:txBody>
          <a:bodyPr wrap="square" lIns="0" tIns="0" rIns="0" bIns="0" rtlCol="0" anchor="t"/>
          <a:lstStyle/>
          <a:p>
            <a:pPr indent="0" marL="0">
              <a:buNone/>
            </a:pPr>
            <a:r>
              <a:rPr lang="en-US" sz="1400" b="1" spc="400" kern="0" dirty="0">
                <a:solidFill>
                  <a:srgbClr val="FFFFFF"/>
                </a:solidFill>
              </a:rPr>
              <a:t>CALIBO AI ACADEMY</a:t>
            </a:r>
            <a:endParaRPr lang="en-US" sz="1400" dirty="0"/>
          </a:p>
        </p:txBody>
      </p:sp>
    </p:spTree>
  </p:cSld>
  <p:clrMapOvr>
    <a:masterClrMapping/>
  </p:clrMapOvr>
</p:sld>
</file>

<file path=ppt/theme/theme1.xml><?xml version="1.0" encoding="utf-8"?>
<a:theme xmlns:a="http://schemas.openxmlformats.org/drawingml/2006/main" name="Segmentation">
  <a:themeElements>
    <a:clrScheme name="Segmentation">
      <a:dk1>
        <a:srgbClr val="1B2B34"/>
      </a:dk1>
      <a:lt1>
        <a:srgbClr val="FFFFFF"/>
      </a:lt1>
      <a:dk2>
        <a:srgbClr val="0F4C5C"/>
      </a:dk2>
      <a:lt2>
        <a:srgbClr val="F4F7F6"/>
      </a:lt2>
      <a:accent1>
        <a:srgbClr val="0F4C5C"/>
      </a:accent1>
      <a:accent2>
        <a:srgbClr val="E36414"/>
      </a:accent2>
      <a:accent3>
        <a:srgbClr val="9DB8BC"/>
      </a:accent3>
      <a:accent4>
        <a:srgbClr val="5B6B73"/>
      </a:accent4>
      <a:accent5>
        <a:srgbClr val="7FB7B0"/>
      </a:accent5>
      <a:accent6>
        <a:srgbClr val="D5DEDC"/>
      </a:accent6>
      <a:hlink>
        <a:srgbClr val="0F4C5C"/>
      </a:hlink>
      <a:folHlink>
        <a:srgbClr val="5B6B73"/>
      </a:folHlink>
    </a:clrScheme>
    <a:fontScheme name="Segment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Using Unsupervised Learning</dc:title>
  <dc:subject>PptxGenJS Presentation</dc:subject>
  <dc:creator>Team Madhu | Yatheesh | Koteswarao</dc:creator>
  <cp:lastModifiedBy>Team Madhu | Yatheesh | Koteswarao</cp:lastModifiedBy>
  <cp:revision>1</cp:revision>
  <dcterms:created xsi:type="dcterms:W3CDTF">2026-10-03T15:52:50Z</dcterms:created>
  <dcterms:modified xsi:type="dcterms:W3CDTF">2026-10-03T15:52:50Z</dcterms:modified>
</cp:coreProperties>
</file>